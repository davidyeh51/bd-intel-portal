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【採用版型與風格】cover ｜ McKinsey &amp; Company</a:t>
            </a:r>
          </a:p>
          <a:p>
            <a:r>
              <a:t>① 本頁結論：本簡報全面剖析三星螺絲成型機（朝璟精機）的真實賺錢機制，為前線業務提供精準打擊與談判依據。</a:t>
            </a:r>
          </a:p>
          <a:p>
            <a:r>
              <a:t>② 補充說明：本報告透過五大維度交叉查證，杜絕網路拼貼，還原其真實客單價、利潤結構與技術防禦力。</a:t>
            </a:r>
          </a:p>
          <a:p>
            <a:r>
              <a:t>③ 下一頁轉場：首先，我們從最關鍵的客單價數據看起，驗證其在市場上的實際價格帶定位。</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1：一對一論法 ｜ BCG (Boston Consulting Group)</a:t>
            </a:r>
          </a:p>
          <a:p>
            <a:r>
              <a:t>① 本頁結論：415 萬元的實際成交價證明該公司並非靠低價傾銷，而是走中階利基路線。</a:t>
            </a:r>
          </a:p>
          <a:p>
            <a:r>
              <a:t>② 補充說明：長衝程特殊零件成型機具備技術門檻，使其能維持 400 萬以上的資本財單價。</a:t>
            </a:r>
          </a:p>
          <a:p>
            <a:r>
              <a:t>③ 下一頁轉場：能維持此一定價能力，背後依靠的是三個關鍵營運支柱。</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2：並列論法 ｜ Accenture</a:t>
            </a:r>
          </a:p>
          <a:p>
            <a:r>
              <a:t>① 本頁結論：專利防禦、進口關鍵件混血與極小團隊編制，構成其堅固獲利三角。</a:t>
            </a:r>
          </a:p>
          <a:p>
            <a:r>
              <a:t>② 補充說明：這種輕資產、重調校的組裝模式，大幅抵禦了扣件景氣循環的波動風險。</a:t>
            </a:r>
          </a:p>
          <a:p>
            <a:r>
              <a:t>③ 下一頁轉場：然而在市場溝通上，前線業務必須先幫客戶釐清一個普遍存在的重大認知誤區。</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6：對立論法 ｜ McKinsey &amp; Company</a:t>
            </a:r>
          </a:p>
          <a:p>
            <a:r>
              <a:t>① 本頁結論：兩家公司毫無股權與從屬關係，業務必須第一時間矯正客戶的品牌混淆。</a:t>
            </a:r>
          </a:p>
          <a:p>
            <a:r>
              <a:t>② 補充說明：三星螺絲成型機是獨立的中小機械廠，不能以千人上市大廠的資源等級來評估其售後與保固。</a:t>
            </a:r>
          </a:p>
          <a:p>
            <a:r>
              <a:t>③ 下一頁轉場：釐清身分後，我們進一步拆解其機台買賣的價值鏈與金流留存路徑。</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5：麥肯錫論法 ｜ McKinsey &amp; Company</a:t>
            </a:r>
          </a:p>
          <a:p>
            <a:r>
              <a:t>① 本頁結論：其利潤主要鎖在自製調校與專利模組，但交機驗收是其供應鏈管理的最大考驗。</a:t>
            </a:r>
          </a:p>
          <a:p>
            <a:r>
              <a:t>② 補充說明：司法判決顯示，一旦專用模具配件無法同步交付，會面臨高額的買賣價金爭議風險。</a:t>
            </a:r>
          </a:p>
          <a:p>
            <a:r>
              <a:t>③ 下一頁轉場：接下來，我們透過連鎖論法還原一台成型機從簽約到結案的完整金流歷程。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4：連鎖論法 ｜ Accenture</a:t>
            </a:r>
          </a:p>
          <a:p>
            <a:r>
              <a:t>① 本頁結論：四階段金流模式確保廠商在組裝前取得週轉金，降低資金積壓風險。</a:t>
            </a:r>
          </a:p>
          <a:p>
            <a:r>
              <a:t>② 補充說明：此種專案制付款是專用機械設備的標準行規，掌握了訂金即可啟動進料。</a:t>
            </a:r>
          </a:p>
          <a:p>
            <a:r>
              <a:t>③ 下一頁轉場：在技術本質上，該公司能立足市場的關鍵在於兩項相輔相成的發明與新型專利。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3：結合論法 ｜ BCG (Boston Consulting Group)</a:t>
            </a:r>
          </a:p>
          <a:p>
            <a:r>
              <a:t>① 本頁結論：翻轉夾持與抑震平衡缺一不可，兩者共同奠定了其打特殊長螺栓的工藝基礎。</a:t>
            </a:r>
          </a:p>
          <a:p>
            <a:r>
              <a:t>② 補充說明：若只有夾持而無抑震，高速衝壓會使模具迅速磨損甚至崩裂；兩者結合才能創造設備價值。</a:t>
            </a:r>
          </a:p>
          <a:p>
            <a:r>
              <a:t>③ 下一頁轉場：將此技術力置於全球設備市場中，我們可以看到其鮮明的區隔定位。</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7：比較論法 ｜ BCG (Boston Consulting Group)</a:t>
            </a:r>
          </a:p>
          <a:p>
            <a:r>
              <a:t>① 本頁結論：三星成型機是歐日機的「高性價比平替方案」，讓預算有限的代工廠具備接單能力。</a:t>
            </a:r>
          </a:p>
          <a:p>
            <a:r>
              <a:t>② 補充說明：這種定位避開了與歐日巨頭的正面衝突，又藉由品質大幅拉開與中國大陸廉價機的差距。</a:t>
            </a:r>
          </a:p>
          <a:p>
            <a:r>
              <a:t>③ 下一頁轉場：在策略布局上，其目標客群與產品矩陣展現了明確的 BCG 四象限特徵。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8：BCG 矩陣 ｜ BCG (Boston Consulting Group)</a:t>
            </a:r>
          </a:p>
          <a:p>
            <a:r>
              <a:t>① 本頁結論：外銷新興市場的特殊長衝程機種是其未來最核心的利潤成長引擎。</a:t>
            </a:r>
          </a:p>
          <a:p>
            <a:r>
              <a:t>② 補充說明：國內市場雖然穩健但已進入成熟期，海外新興工業國的汽機車零組件自製化浪潮才是其最大出海口。</a:t>
            </a:r>
          </a:p>
          <a:p>
            <a:r>
              <a:t>③ 下一頁轉場：了解對手的全局態勢後，我們將情報落實為前線業務的具體攻防作戰指引。</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2：並列論法 ｜ Accenture</a:t>
            </a:r>
          </a:p>
          <a:p>
            <a:r>
              <a:t>① 本頁結論：前線業務透過拆解隱性成本、主體釐清與驗收保障，能有效瓦解對手低價攻勢。</a:t>
            </a:r>
          </a:p>
          <a:p>
            <a:r>
              <a:t>② 補充說明：這些話術全部基於公開判決與客觀事實，能讓業務在客戶面前展現專業的產業內幕洞察。</a:t>
            </a:r>
          </a:p>
          <a:p>
            <a:r>
              <a:t>③ 下一頁轉場：除了競爭防禦，若我們是供應鏈廠商，又該如何切入向他們銷售？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3：結合論法 ｜ McKinsey &amp; Company</a:t>
            </a:r>
          </a:p>
          <a:p>
            <a:r>
              <a:t>① 本頁結論：對接這家公司的關鍵在於幫他省下日本零件的昂貴成本，同時分擔他的加工瓶頸。</a:t>
            </a:r>
          </a:p>
          <a:p>
            <a:r>
              <a:t>② 補充說明：小於 20 人的機械廠高度依賴外部協力廠，只要能提供品質穩定、價格合理的零組件，切入機會極高。</a:t>
            </a:r>
          </a:p>
          <a:p>
            <a:r>
              <a:t>③ 下一頁轉場：最後，我們以麥肯錫金字塔結構總結業務團隊的整體行動綱領。</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【採用版型與風格】版型 3：結合論法 ｜ McKinsey &amp; Company</a:t>
            </a:r>
          </a:p>
          <a:p>
            <a:r>
              <a:t>① 本頁結論：本報告不僅提供了競爭對手的全景情資，更為前線業務轉化為具體的攻防行動計畫。</a:t>
            </a:r>
          </a:p>
          <a:p>
            <a:r>
              <a:t>② 補充說明：業務團隊應充分利用作戰卡與話術表，在客戶拜訪與供應鏈談判中搶佔主導地位。</a:t>
            </a:r>
          </a:p>
          <a:p>
            <a:r>
              <a:t>③ 下一頁轉場：感謝各位，請參閱業務開發知識庫門戶以獲取更多即時動態與下載簡報檔案。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05840" y="1463040"/>
            <a:ext cx="1645920"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645920"/>
            <a:ext cx="10058400" cy="457200"/>
          </a:xfrm>
          <a:prstGeom prst="rect">
            <a:avLst/>
          </a:prstGeom>
          <a:noFill/>
        </p:spPr>
        <p:txBody>
          <a:bodyPr wrap="none">
            <a:spAutoFit/>
          </a:bodyPr>
          <a:lstStyle/>
          <a:p>
            <a:pPr>
              <a:defRPr sz="1300" b="1">
                <a:solidFill>
                  <a:srgbClr val="D97706"/>
                </a:solidFill>
              </a:defRPr>
            </a:pPr>
            <a:r>
              <a:t>4.1.3 業務開發戰情專報  ｜  ZERO-NOISE CONSULTING BRIEFING</a:t>
            </a:r>
          </a:p>
        </p:txBody>
      </p:sp>
      <p:sp>
        <p:nvSpPr>
          <p:cNvPr id="5" name="TextBox 4"/>
          <p:cNvSpPr txBox="1"/>
          <p:nvPr/>
        </p:nvSpPr>
        <p:spPr>
          <a:xfrm>
            <a:off x="1005840" y="2194560"/>
            <a:ext cx="10058400" cy="1463040"/>
          </a:xfrm>
          <a:prstGeom prst="rect">
            <a:avLst/>
          </a:prstGeom>
          <a:noFill/>
        </p:spPr>
        <p:txBody>
          <a:bodyPr wrap="square">
            <a:spAutoFit/>
          </a:bodyPr>
          <a:lstStyle/>
          <a:p>
            <a:pPr>
              <a:defRPr sz="3400" b="1">
                <a:solidFill>
                  <a:srgbClr val="FFFFFF"/>
                </a:solidFill>
              </a:defRPr>
            </a:pPr>
            <a:r>
              <a:t>三星螺絲成型機有限公司・商業模式解構與業務作戰指引</a:t>
            </a:r>
          </a:p>
        </p:txBody>
      </p:sp>
      <p:sp>
        <p:nvSpPr>
          <p:cNvPr id="6" name="TextBox 5"/>
          <p:cNvSpPr txBox="1"/>
          <p:nvPr/>
        </p:nvSpPr>
        <p:spPr>
          <a:xfrm>
            <a:off x="1005840" y="3840480"/>
            <a:ext cx="10058400" cy="1097280"/>
          </a:xfrm>
          <a:prstGeom prst="rect">
            <a:avLst/>
          </a:prstGeom>
          <a:noFill/>
        </p:spPr>
        <p:txBody>
          <a:bodyPr wrap="square">
            <a:spAutoFit/>
          </a:bodyPr>
          <a:lstStyle/>
          <a:p>
            <a:pPr>
              <a:defRPr sz="1800">
                <a:solidFill>
                  <a:srgbClr val="E2E8F0"/>
                </a:solidFill>
              </a:defRPr>
            </a:pPr>
            <a:r>
              <a:t>核心主張：避開歐日千萬機台與中國低價紅海，以「極簡20人編制＋日本核心件＋關鍵專利夾具」切入400萬級距特殊零件利基市場</a:t>
            </a:r>
          </a:p>
        </p:txBody>
      </p:sp>
      <p:sp>
        <p:nvSpPr>
          <p:cNvPr id="7" name="TextBox 6"/>
          <p:cNvSpPr txBox="1"/>
          <p:nvPr/>
        </p:nvSpPr>
        <p:spPr>
          <a:xfrm>
            <a:off x="1005840" y="5394960"/>
            <a:ext cx="10058400" cy="457200"/>
          </a:xfrm>
          <a:prstGeom prst="rect">
            <a:avLst/>
          </a:prstGeom>
          <a:noFill/>
        </p:spPr>
        <p:txBody>
          <a:bodyPr wrap="none">
            <a:spAutoFit/>
          </a:bodyPr>
          <a:lstStyle/>
          <a:p>
            <a:pPr>
              <a:defRPr sz="1250">
                <a:solidFill>
                  <a:srgbClr val="BAC4D2"/>
                </a:solidFill>
              </a:defRPr>
            </a:pPr>
            <a:r>
              <a:t>研調依據：經濟部商工公示登記・高院判決書 114上149・智財局專利公報・Fastener World 專訪</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29BA74"/>
                </a:solidFill>
              </a:defRPr>
            </a:pPr>
            <a:r>
              <a:t>市場定價定位  ｜  版型 1：一對一論法  ｜  BCG (Boston Consulting Group)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B7280"/>
                </a:solidFill>
              </a:defRPr>
            </a:pPr>
            <a:r>
              <a:t>2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004F32"/>
                </a:solidFill>
              </a:defRPr>
            </a:pPr>
            <a:r>
              <a:t>415 萬單台均價錨定中階利基，驗證其避開低價競爭的客單價實力</a:t>
            </a:r>
          </a:p>
          <a:p>
            <a:pPr>
              <a:defRPr sz="1250">
                <a:solidFill>
                  <a:srgbClr val="6B7280"/>
                </a:solidFill>
              </a:defRPr>
            </a:pPr>
            <a:r>
              <a:t>以司法判決真實合約價比對兩岸及歐日冷鍛成型機價格帶分布</a:t>
            </a:r>
          </a:p>
        </p:txBody>
      </p:sp>
      <p:sp>
        <p:nvSpPr>
          <p:cNvPr id="5" name="Rectangle 4"/>
          <p:cNvSpPr/>
          <p:nvPr/>
        </p:nvSpPr>
        <p:spPr>
          <a:xfrm>
            <a:off x="731520" y="1627632"/>
            <a:ext cx="10728655" cy="22860"/>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B7280"/>
                </a:solidFill>
              </a:defRPr>
            </a:pPr>
            <a:r>
              <a:t>資料來源：臺灣高等法院臺南分院 114年度上字第149號民事判決書、扣件設備產業訪查行情</a:t>
            </a:r>
          </a:p>
        </p:txBody>
      </p:sp>
      <p:sp>
        <p:nvSpPr>
          <p:cNvPr id="7" name="Rectangle 6"/>
          <p:cNvSpPr/>
          <p:nvPr/>
        </p:nvSpPr>
        <p:spPr>
          <a:xfrm>
            <a:off x="1385316" y="5434965"/>
            <a:ext cx="777240" cy="325754"/>
          </a:xfrm>
          <a:prstGeom prst="rect">
            <a:avLst/>
          </a:prstGeom>
          <a:solidFill>
            <a:srgbClr val="C0C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8156" y="5087493"/>
            <a:ext cx="1051560" cy="320040"/>
          </a:xfrm>
          <a:prstGeom prst="rect">
            <a:avLst/>
          </a:prstGeom>
          <a:noFill/>
        </p:spPr>
        <p:txBody>
          <a:bodyPr wrap="none">
            <a:spAutoFit/>
          </a:bodyPr>
          <a:lstStyle/>
          <a:p>
            <a:pPr algn="ctr">
              <a:defRPr sz="1100" b="0">
                <a:solidFill>
                  <a:srgbClr val="6B7280"/>
                </a:solidFill>
              </a:defRPr>
            </a:pPr>
            <a:r>
              <a:t>150 萬</a:t>
            </a:r>
          </a:p>
        </p:txBody>
      </p:sp>
      <p:sp>
        <p:nvSpPr>
          <p:cNvPr id="9" name="TextBox 8"/>
          <p:cNvSpPr txBox="1"/>
          <p:nvPr/>
        </p:nvSpPr>
        <p:spPr>
          <a:xfrm>
            <a:off x="1202436" y="5833872"/>
            <a:ext cx="1143000" cy="365760"/>
          </a:xfrm>
          <a:prstGeom prst="rect">
            <a:avLst/>
          </a:prstGeom>
          <a:noFill/>
        </p:spPr>
        <p:txBody>
          <a:bodyPr wrap="none">
            <a:spAutoFit/>
          </a:bodyPr>
          <a:lstStyle/>
          <a:p>
            <a:pPr algn="ctr">
              <a:defRPr sz="1200" b="0">
                <a:solidFill>
                  <a:srgbClr val="1F2937"/>
                </a:solidFill>
              </a:defRPr>
            </a:pPr>
            <a:r>
              <a:t>陸製平價機</a:t>
            </a:r>
          </a:p>
        </p:txBody>
      </p:sp>
      <p:sp>
        <p:nvSpPr>
          <p:cNvPr id="10" name="Rectangle 9"/>
          <p:cNvSpPr/>
          <p:nvPr/>
        </p:nvSpPr>
        <p:spPr>
          <a:xfrm>
            <a:off x="2738627" y="5152644"/>
            <a:ext cx="777240" cy="608075"/>
          </a:xfrm>
          <a:prstGeom prst="rect">
            <a:avLst/>
          </a:prstGeom>
          <a:solidFill>
            <a:srgbClr val="C0C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01468" y="4805172"/>
            <a:ext cx="1051560" cy="320040"/>
          </a:xfrm>
          <a:prstGeom prst="rect">
            <a:avLst/>
          </a:prstGeom>
          <a:noFill/>
        </p:spPr>
        <p:txBody>
          <a:bodyPr wrap="none">
            <a:spAutoFit/>
          </a:bodyPr>
          <a:lstStyle/>
          <a:p>
            <a:pPr algn="ctr">
              <a:defRPr sz="1100" b="0">
                <a:solidFill>
                  <a:srgbClr val="6B7280"/>
                </a:solidFill>
              </a:defRPr>
            </a:pPr>
            <a:r>
              <a:t>280 萬</a:t>
            </a:r>
          </a:p>
        </p:txBody>
      </p:sp>
      <p:sp>
        <p:nvSpPr>
          <p:cNvPr id="12" name="TextBox 11"/>
          <p:cNvSpPr txBox="1"/>
          <p:nvPr/>
        </p:nvSpPr>
        <p:spPr>
          <a:xfrm>
            <a:off x="2555747" y="5833872"/>
            <a:ext cx="1143000" cy="365760"/>
          </a:xfrm>
          <a:prstGeom prst="rect">
            <a:avLst/>
          </a:prstGeom>
          <a:noFill/>
        </p:spPr>
        <p:txBody>
          <a:bodyPr wrap="none">
            <a:spAutoFit/>
          </a:bodyPr>
          <a:lstStyle/>
          <a:p>
            <a:pPr algn="ctr">
              <a:defRPr sz="1200" b="0">
                <a:solidFill>
                  <a:srgbClr val="1F2937"/>
                </a:solidFill>
              </a:defRPr>
            </a:pPr>
            <a:r>
              <a:t>台製通用機</a:t>
            </a:r>
          </a:p>
        </p:txBody>
      </p:sp>
      <p:sp>
        <p:nvSpPr>
          <p:cNvPr id="13" name="Rectangle 12"/>
          <p:cNvSpPr/>
          <p:nvPr/>
        </p:nvSpPr>
        <p:spPr>
          <a:xfrm>
            <a:off x="4091940" y="4859464"/>
            <a:ext cx="777240" cy="901255"/>
          </a:xfrm>
          <a:prstGeom prst="rect">
            <a:avLst/>
          </a:prstGeom>
          <a:solidFill>
            <a:srgbClr val="29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54780" y="4511992"/>
            <a:ext cx="1051560" cy="320040"/>
          </a:xfrm>
          <a:prstGeom prst="rect">
            <a:avLst/>
          </a:prstGeom>
          <a:noFill/>
        </p:spPr>
        <p:txBody>
          <a:bodyPr wrap="none">
            <a:spAutoFit/>
          </a:bodyPr>
          <a:lstStyle/>
          <a:p>
            <a:pPr algn="ctr">
              <a:defRPr sz="1300" b="1">
                <a:solidFill>
                  <a:srgbClr val="004F32"/>
                </a:solidFill>
              </a:defRPr>
            </a:pPr>
            <a:r>
              <a:t>415 萬</a:t>
            </a:r>
          </a:p>
        </p:txBody>
      </p:sp>
      <p:sp>
        <p:nvSpPr>
          <p:cNvPr id="15" name="TextBox 14"/>
          <p:cNvSpPr txBox="1"/>
          <p:nvPr/>
        </p:nvSpPr>
        <p:spPr>
          <a:xfrm>
            <a:off x="3909060" y="5833872"/>
            <a:ext cx="1143000" cy="365760"/>
          </a:xfrm>
          <a:prstGeom prst="rect">
            <a:avLst/>
          </a:prstGeom>
          <a:noFill/>
        </p:spPr>
        <p:txBody>
          <a:bodyPr wrap="none">
            <a:spAutoFit/>
          </a:bodyPr>
          <a:lstStyle/>
          <a:p>
            <a:pPr algn="ctr">
              <a:defRPr sz="1200" b="1">
                <a:solidFill>
                  <a:srgbClr val="004F32"/>
                </a:solidFill>
              </a:defRPr>
            </a:pPr>
            <a:r>
              <a:t>三星/朝璟 (PF86L)</a:t>
            </a:r>
          </a:p>
        </p:txBody>
      </p:sp>
      <p:sp>
        <p:nvSpPr>
          <p:cNvPr id="16" name="Rectangle 15"/>
          <p:cNvSpPr/>
          <p:nvPr/>
        </p:nvSpPr>
        <p:spPr>
          <a:xfrm>
            <a:off x="5445252" y="3914775"/>
            <a:ext cx="777240" cy="1845944"/>
          </a:xfrm>
          <a:prstGeom prst="rect">
            <a:avLst/>
          </a:prstGeom>
          <a:solidFill>
            <a:srgbClr val="C0C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8092" y="3567303"/>
            <a:ext cx="1051560" cy="320040"/>
          </a:xfrm>
          <a:prstGeom prst="rect">
            <a:avLst/>
          </a:prstGeom>
          <a:noFill/>
        </p:spPr>
        <p:txBody>
          <a:bodyPr wrap="none">
            <a:spAutoFit/>
          </a:bodyPr>
          <a:lstStyle/>
          <a:p>
            <a:pPr algn="ctr">
              <a:defRPr sz="1100" b="0">
                <a:solidFill>
                  <a:srgbClr val="6B7280"/>
                </a:solidFill>
              </a:defRPr>
            </a:pPr>
            <a:r>
              <a:t>850 萬</a:t>
            </a:r>
          </a:p>
        </p:txBody>
      </p:sp>
      <p:sp>
        <p:nvSpPr>
          <p:cNvPr id="18" name="TextBox 17"/>
          <p:cNvSpPr txBox="1"/>
          <p:nvPr/>
        </p:nvSpPr>
        <p:spPr>
          <a:xfrm>
            <a:off x="5262372" y="5833872"/>
            <a:ext cx="1143000" cy="365760"/>
          </a:xfrm>
          <a:prstGeom prst="rect">
            <a:avLst/>
          </a:prstGeom>
          <a:noFill/>
        </p:spPr>
        <p:txBody>
          <a:bodyPr wrap="none">
            <a:spAutoFit/>
          </a:bodyPr>
          <a:lstStyle/>
          <a:p>
            <a:pPr algn="ctr">
              <a:defRPr sz="1200" b="0">
                <a:solidFill>
                  <a:srgbClr val="1F2937"/>
                </a:solidFill>
              </a:defRPr>
            </a:pPr>
            <a:r>
              <a:t>日本中階機</a:t>
            </a:r>
          </a:p>
        </p:txBody>
      </p:sp>
      <p:sp>
        <p:nvSpPr>
          <p:cNvPr id="19" name="Rectangle 18"/>
          <p:cNvSpPr/>
          <p:nvPr/>
        </p:nvSpPr>
        <p:spPr>
          <a:xfrm>
            <a:off x="6798564" y="2286000"/>
            <a:ext cx="777240" cy="3474720"/>
          </a:xfrm>
          <a:prstGeom prst="rect">
            <a:avLst/>
          </a:prstGeom>
          <a:solidFill>
            <a:srgbClr val="C0C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61404" y="1938528"/>
            <a:ext cx="1051560" cy="320040"/>
          </a:xfrm>
          <a:prstGeom prst="rect">
            <a:avLst/>
          </a:prstGeom>
          <a:noFill/>
        </p:spPr>
        <p:txBody>
          <a:bodyPr wrap="none">
            <a:spAutoFit/>
          </a:bodyPr>
          <a:lstStyle/>
          <a:p>
            <a:pPr algn="ctr">
              <a:defRPr sz="1100" b="0">
                <a:solidFill>
                  <a:srgbClr val="6B7280"/>
                </a:solidFill>
              </a:defRPr>
            </a:pPr>
            <a:r>
              <a:t>1600 萬</a:t>
            </a:r>
          </a:p>
        </p:txBody>
      </p:sp>
      <p:sp>
        <p:nvSpPr>
          <p:cNvPr id="21" name="TextBox 20"/>
          <p:cNvSpPr txBox="1"/>
          <p:nvPr/>
        </p:nvSpPr>
        <p:spPr>
          <a:xfrm>
            <a:off x="6615684" y="5833872"/>
            <a:ext cx="1143000" cy="365760"/>
          </a:xfrm>
          <a:prstGeom prst="rect">
            <a:avLst/>
          </a:prstGeom>
          <a:noFill/>
        </p:spPr>
        <p:txBody>
          <a:bodyPr wrap="none">
            <a:spAutoFit/>
          </a:bodyPr>
          <a:lstStyle/>
          <a:p>
            <a:pPr algn="ctr">
              <a:defRPr sz="1200" b="0">
                <a:solidFill>
                  <a:srgbClr val="1F2937"/>
                </a:solidFill>
              </a:defRPr>
            </a:pPr>
            <a:r>
              <a:t>歐美頂級機</a:t>
            </a:r>
          </a:p>
        </p:txBody>
      </p:sp>
      <p:sp>
        <p:nvSpPr>
          <p:cNvPr id="22" name="Rounded Rectangle 21"/>
          <p:cNvSpPr/>
          <p:nvPr/>
        </p:nvSpPr>
        <p:spPr>
          <a:xfrm>
            <a:off x="8229600" y="2011680"/>
            <a:ext cx="3200400" cy="3749039"/>
          </a:xfrm>
          <a:prstGeom prst="roundRect">
            <a:avLst/>
          </a:prstGeom>
          <a:solidFill>
            <a:srgbClr val="F3F4F6"/>
          </a:solidFill>
          <a:ln w="19050">
            <a:solidFill>
              <a:srgbClr val="29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0" y="2194560"/>
            <a:ext cx="2834640" cy="3383280"/>
          </a:xfrm>
          <a:prstGeom prst="rect">
            <a:avLst/>
          </a:prstGeom>
          <a:noFill/>
        </p:spPr>
        <p:txBody>
          <a:bodyPr wrap="square">
            <a:spAutoFit/>
          </a:bodyPr>
          <a:lstStyle/>
          <a:p>
            <a:pPr>
              <a:spcAft>
                <a:spcPts val="1000"/>
              </a:spcAft>
              <a:defRPr sz="1500" b="1">
                <a:solidFill>
                  <a:srgbClr val="177B57"/>
                </a:solidFill>
              </a:defRPr>
            </a:pPr>
            <a:r>
              <a:t>法院認證之單台合約價</a:t>
            </a:r>
          </a:p>
          <a:p>
            <a:pPr>
              <a:spcAft>
                <a:spcPts val="800"/>
              </a:spcAft>
              <a:defRPr sz="1250">
                <a:solidFill>
                  <a:srgbClr val="1F2937"/>
                </a:solidFill>
              </a:defRPr>
            </a:pPr>
            <a:r>
              <a:t>• 臺灣高等法院臺南分院 114年度上字第149號判決載明真實合約價 415 萬元（未稅）。</a:t>
            </a:r>
          </a:p>
          <a:p>
            <a:pPr>
              <a:spcAft>
                <a:spcPts val="800"/>
              </a:spcAft>
              <a:defRPr sz="1250">
                <a:solidFill>
                  <a:srgbClr val="1F2937"/>
                </a:solidFill>
              </a:defRPr>
            </a:pPr>
            <a:r>
              <a:t>• 首期簽約訂金收取 96 萬元（約 23.1%），機台到廠試車後付清尾款。</a:t>
            </a:r>
          </a:p>
          <a:p>
            <a:pPr>
              <a:spcAft>
                <a:spcPts val="800"/>
              </a:spcAft>
              <a:defRPr sz="1250">
                <a:solidFill>
                  <a:srgbClr val="1F2937"/>
                </a:solidFill>
              </a:defRPr>
            </a:pPr>
            <a:r>
              <a:t>• 價格精準卡在「中小型螺絲廠買得起、大陸廉價機做不出」的最佳甜蜜點。</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A100FF"/>
                </a:solidFill>
              </a:defRPr>
            </a:pPr>
            <a:r>
              <a:t>核心競爭優勢  ｜  版型 2：並列論法  ｜  Accenture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4748B"/>
                </a:solidFill>
              </a:defRPr>
            </a:pPr>
            <a:r>
              <a:t>3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111827"/>
                </a:solidFill>
              </a:defRPr>
            </a:pPr>
            <a:r>
              <a:t>三大營運支柱共構防禦力：專利機構、日本關鍵件與小於20人精兵管銷</a:t>
            </a:r>
          </a:p>
          <a:p>
            <a:pPr>
              <a:defRPr sz="1250">
                <a:solidFill>
                  <a:srgbClr val="64748B"/>
                </a:solidFill>
              </a:defRPr>
            </a:pPr>
            <a:r>
              <a:t>從研發、供應鏈到人事管理維度歸納其高生存率與高利潤留存之原因</a:t>
            </a:r>
          </a:p>
        </p:txBody>
      </p:sp>
      <p:sp>
        <p:nvSpPr>
          <p:cNvPr id="5" name="Rectangle 4"/>
          <p:cNvSpPr/>
          <p:nvPr/>
        </p:nvSpPr>
        <p:spPr>
          <a:xfrm>
            <a:off x="731520" y="1627632"/>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4748B"/>
                </a:solidFill>
              </a:defRPr>
            </a:pPr>
            <a:r>
              <a:t>資料來源：經濟部智慧財產局專利公報、Fastener World 專訪廖彥榮總經理發言紀錄</a:t>
            </a:r>
          </a:p>
        </p:txBody>
      </p:sp>
      <p:sp>
        <p:nvSpPr>
          <p:cNvPr id="7" name="Rounded Rectangle 6"/>
          <p:cNvSpPr/>
          <p:nvPr/>
        </p:nvSpPr>
        <p:spPr>
          <a:xfrm>
            <a:off x="731520" y="1874519"/>
            <a:ext cx="3393338" cy="4297680"/>
          </a:xfrm>
          <a:prstGeom prst="roundRect">
            <a:avLst/>
          </a:prstGeom>
          <a:solidFill>
            <a:srgbClr val="F9FAFB"/>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74519"/>
            <a:ext cx="3393338" cy="502920"/>
          </a:xfrm>
          <a:prstGeom prst="rect">
            <a:avLst/>
          </a:prstGeom>
          <a:solidFill>
            <a:srgbClr val="6B2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支柱 1：關鍵專利防禦</a:t>
            </a:r>
          </a:p>
        </p:txBody>
      </p:sp>
      <p:sp>
        <p:nvSpPr>
          <p:cNvPr id="9" name="TextBox 8"/>
          <p:cNvSpPr txBox="1"/>
          <p:nvPr/>
        </p:nvSpPr>
        <p:spPr>
          <a:xfrm>
            <a:off x="914400" y="2514600"/>
            <a:ext cx="3027578" cy="3520440"/>
          </a:xfrm>
          <a:prstGeom prst="rect">
            <a:avLst/>
          </a:prstGeom>
          <a:noFill/>
        </p:spPr>
        <p:txBody>
          <a:bodyPr wrap="square">
            <a:spAutoFit/>
          </a:bodyPr>
          <a:lstStyle/>
          <a:p>
            <a:pPr>
              <a:spcAft>
                <a:spcPts val="600"/>
              </a:spcAft>
              <a:defRPr sz="1250">
                <a:solidFill>
                  <a:srgbClr val="0F172A"/>
                </a:solidFill>
              </a:defRPr>
            </a:pPr>
            <a:r>
              <a:t>1. 發明專利第 I589390 號「成型機之夾持裝置」，掌握複雜工件自動翻轉核心</a:t>
            </a:r>
          </a:p>
          <a:p>
            <a:pPr>
              <a:spcAft>
                <a:spcPts val="600"/>
              </a:spcAft>
              <a:defRPr sz="1250">
                <a:solidFill>
                  <a:srgbClr val="0F172A"/>
                </a:solidFill>
              </a:defRPr>
            </a:pPr>
            <a:r>
              <a:t>2. 新型專利第 M627444 號「具抑制作動震動之成型機」，確保高速衝壓穩定</a:t>
            </a:r>
          </a:p>
          <a:p>
            <a:pPr>
              <a:spcAft>
                <a:spcPts val="600"/>
              </a:spcAft>
              <a:defRPr sz="1250">
                <a:solidFill>
                  <a:srgbClr val="0F172A"/>
                </a:solidFill>
              </a:defRPr>
            </a:pPr>
            <a:r>
              <a:t>3. 專利技術在台越兩地布局，拉開與二線副廠技術代差</a:t>
            </a:r>
          </a:p>
        </p:txBody>
      </p:sp>
      <p:sp>
        <p:nvSpPr>
          <p:cNvPr id="10" name="Rounded Rectangle 9"/>
          <p:cNvSpPr/>
          <p:nvPr/>
        </p:nvSpPr>
        <p:spPr>
          <a:xfrm>
            <a:off x="4399178" y="1874519"/>
            <a:ext cx="3393338" cy="4297680"/>
          </a:xfrm>
          <a:prstGeom prst="roundRect">
            <a:avLst/>
          </a:prstGeom>
          <a:solidFill>
            <a:srgbClr val="F9FAFB"/>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1874519"/>
            <a:ext cx="3393338" cy="502920"/>
          </a:xfrm>
          <a:prstGeom prst="rect">
            <a:avLst/>
          </a:prstGeom>
          <a:solidFill>
            <a:srgbClr val="11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支柱 2：日台零組件混血</a:t>
            </a:r>
          </a:p>
        </p:txBody>
      </p:sp>
      <p:sp>
        <p:nvSpPr>
          <p:cNvPr id="12" name="TextBox 11"/>
          <p:cNvSpPr txBox="1"/>
          <p:nvPr/>
        </p:nvSpPr>
        <p:spPr>
          <a:xfrm>
            <a:off x="4582058" y="2514600"/>
            <a:ext cx="3027578" cy="3520440"/>
          </a:xfrm>
          <a:prstGeom prst="rect">
            <a:avLst/>
          </a:prstGeom>
          <a:noFill/>
        </p:spPr>
        <p:txBody>
          <a:bodyPr wrap="square">
            <a:spAutoFit/>
          </a:bodyPr>
          <a:lstStyle/>
          <a:p>
            <a:pPr>
              <a:spcAft>
                <a:spcPts val="600"/>
              </a:spcAft>
              <a:defRPr sz="1250">
                <a:solidFill>
                  <a:srgbClr val="0F172A"/>
                </a:solidFill>
              </a:defRPr>
            </a:pPr>
            <a:r>
              <a:t>1. 機體採用台灣高品質 FCD 球狀石墨鑄鐵，剛性與減震兼具</a:t>
            </a:r>
          </a:p>
          <a:p>
            <a:pPr>
              <a:spcAft>
                <a:spcPts val="600"/>
              </a:spcAft>
              <a:defRPr sz="1250">
                <a:solidFill>
                  <a:srgbClr val="0F172A"/>
                </a:solidFill>
              </a:defRPr>
            </a:pPr>
            <a:r>
              <a:t>2. 核心滾柱軸承與重要傳動合金鋼嚴選日本進口件</a:t>
            </a:r>
          </a:p>
          <a:p>
            <a:pPr>
              <a:spcAft>
                <a:spcPts val="600"/>
              </a:spcAft>
              <a:defRPr sz="1250">
                <a:solidFill>
                  <a:srgbClr val="0F172A"/>
                </a:solidFill>
              </a:defRPr>
            </a:pPr>
            <a:r>
              <a:t>3. 以日本原裝機 50% 成本達成 85% 耐用度與精度</a:t>
            </a:r>
          </a:p>
        </p:txBody>
      </p:sp>
      <p:sp>
        <p:nvSpPr>
          <p:cNvPr id="13" name="Rounded Rectangle 12"/>
          <p:cNvSpPr/>
          <p:nvPr/>
        </p:nvSpPr>
        <p:spPr>
          <a:xfrm>
            <a:off x="8066836" y="1874519"/>
            <a:ext cx="3393338" cy="4297680"/>
          </a:xfrm>
          <a:prstGeom prst="roundRect">
            <a:avLst/>
          </a:prstGeom>
          <a:solidFill>
            <a:srgbClr val="F9FAFB"/>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6836" y="1874519"/>
            <a:ext cx="3393338" cy="502920"/>
          </a:xfrm>
          <a:prstGeom prst="rect">
            <a:avLst/>
          </a:prstGeom>
          <a:solidFill>
            <a:srgbClr val="6B2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支柱 3：極致精兵管銷</a:t>
            </a:r>
          </a:p>
        </p:txBody>
      </p:sp>
      <p:sp>
        <p:nvSpPr>
          <p:cNvPr id="15" name="TextBox 14"/>
          <p:cNvSpPr txBox="1"/>
          <p:nvPr/>
        </p:nvSpPr>
        <p:spPr>
          <a:xfrm>
            <a:off x="8249716" y="2514600"/>
            <a:ext cx="3027578" cy="3520440"/>
          </a:xfrm>
          <a:prstGeom prst="rect">
            <a:avLst/>
          </a:prstGeom>
          <a:noFill/>
        </p:spPr>
        <p:txBody>
          <a:bodyPr wrap="square">
            <a:spAutoFit/>
          </a:bodyPr>
          <a:lstStyle/>
          <a:p>
            <a:pPr>
              <a:spcAft>
                <a:spcPts val="600"/>
              </a:spcAft>
              <a:defRPr sz="1250">
                <a:solidFill>
                  <a:srgbClr val="0F172A"/>
                </a:solidFill>
              </a:defRPr>
            </a:pPr>
            <a:r>
              <a:t>1. 全廠人員嚴格控制在 20 人以內，無龐大行政人事包袱</a:t>
            </a:r>
          </a:p>
          <a:p>
            <a:pPr>
              <a:spcAft>
                <a:spcPts val="600"/>
              </a:spcAft>
              <a:defRPr sz="1250">
                <a:solidFill>
                  <a:srgbClr val="0F172A"/>
                </a:solidFill>
              </a:defRPr>
            </a:pPr>
            <a:r>
              <a:t>2. 主力規格（5~10mm 線徑）備妥標準毛胚庫存，交期短</a:t>
            </a:r>
          </a:p>
          <a:p>
            <a:pPr>
              <a:spcAft>
                <a:spcPts val="600"/>
              </a:spcAft>
              <a:defRPr sz="1250">
                <a:solidFill>
                  <a:srgbClr val="0F172A"/>
                </a:solidFill>
              </a:defRPr>
            </a:pPr>
            <a:r>
              <a:t>3. 景氣下行抗虧損能力極強，景氣回溫毛利快速轉化為淨現金流</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D97706"/>
                </a:solidFill>
              </a:defRPr>
            </a:pPr>
            <a:r>
              <a:t>企業主體辨識  ｜  版型 6：對立論法  ｜  McKinsey &amp; Company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4748B"/>
                </a:solidFill>
              </a:defRPr>
            </a:pPr>
            <a:r>
              <a:t>4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051C2C"/>
                </a:solidFill>
              </a:defRPr>
            </a:pPr>
            <a:r>
              <a:t>釐清市場混淆：非台南上市扣件龍頭，實為雲林斗南獨立專用機製造商</a:t>
            </a:r>
          </a:p>
          <a:p>
            <a:pPr>
              <a:defRPr sz="1250">
                <a:solidFill>
                  <a:srgbClr val="64748B"/>
                </a:solidFill>
              </a:defRPr>
            </a:pPr>
            <a:r>
              <a:t>上市大廠「三星科技 5007」與「三星螺絲成型機」之跨維度事實比對</a:t>
            </a:r>
          </a:p>
        </p:txBody>
      </p:sp>
      <p:sp>
        <p:nvSpPr>
          <p:cNvPr id="5" name="Rectangle 4"/>
          <p:cNvSpPr/>
          <p:nvPr/>
        </p:nvSpPr>
        <p:spPr>
          <a:xfrm>
            <a:off x="731520" y="1627632"/>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4748B"/>
                </a:solidFill>
              </a:defRPr>
            </a:pPr>
            <a:r>
              <a:t>資料來源：公開資訊觀測站（MOPS）、經濟部商業發展署商工公示資料庫</a:t>
            </a:r>
          </a:p>
        </p:txBody>
      </p:sp>
      <p:sp>
        <p:nvSpPr>
          <p:cNvPr id="7" name="Rectangle 6"/>
          <p:cNvSpPr/>
          <p:nvPr/>
        </p:nvSpPr>
        <p:spPr>
          <a:xfrm>
            <a:off x="2651760" y="1828800"/>
            <a:ext cx="4297680" cy="50292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② 見解 A</a:t>
            </a:r>
          </a:p>
        </p:txBody>
      </p:sp>
      <p:sp>
        <p:nvSpPr>
          <p:cNvPr id="8" name="Rectangle 7"/>
          <p:cNvSpPr/>
          <p:nvPr/>
        </p:nvSpPr>
        <p:spPr>
          <a:xfrm>
            <a:off x="7132320" y="1828800"/>
            <a:ext cx="4297680" cy="5029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② 見解 B</a:t>
            </a:r>
          </a:p>
        </p:txBody>
      </p:sp>
      <p:sp>
        <p:nvSpPr>
          <p:cNvPr id="9" name="Oval 8"/>
          <p:cNvSpPr/>
          <p:nvPr/>
        </p:nvSpPr>
        <p:spPr>
          <a:xfrm>
            <a:off x="731520" y="2468880"/>
            <a:ext cx="1737360" cy="868680"/>
          </a:xfrm>
          <a:prstGeom prst="ellipse">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1C2C"/>
                </a:solidFill>
              </a:defRPr>
            </a:pPr>
          </a:p>
        </p:txBody>
      </p:sp>
      <p:sp>
        <p:nvSpPr>
          <p:cNvPr id="10" name="Rounded Rectangle 9"/>
          <p:cNvSpPr/>
          <p:nvPr/>
        </p:nvSpPr>
        <p:spPr>
          <a:xfrm>
            <a:off x="2651760" y="2468880"/>
            <a:ext cx="4297680"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88920" y="2542032"/>
            <a:ext cx="4023360" cy="722375"/>
          </a:xfrm>
          <a:prstGeom prst="rect">
            <a:avLst/>
          </a:prstGeom>
          <a:noFill/>
        </p:spPr>
        <p:txBody>
          <a:bodyPr wrap="square">
            <a:spAutoFit/>
          </a:bodyPr>
          <a:lstStyle/>
          <a:p>
            <a:pPr>
              <a:defRPr sz="1200">
                <a:solidFill>
                  <a:srgbClr val="1F2937"/>
                </a:solidFill>
              </a:defRPr>
            </a:pPr>
          </a:p>
        </p:txBody>
      </p:sp>
      <p:sp>
        <p:nvSpPr>
          <p:cNvPr id="12" name="Rounded Rectangle 11"/>
          <p:cNvSpPr/>
          <p:nvPr/>
        </p:nvSpPr>
        <p:spPr>
          <a:xfrm>
            <a:off x="7132320" y="2468880"/>
            <a:ext cx="4297680"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9480" y="2542032"/>
            <a:ext cx="4023360" cy="722375"/>
          </a:xfrm>
          <a:prstGeom prst="rect">
            <a:avLst/>
          </a:prstGeom>
          <a:noFill/>
        </p:spPr>
        <p:txBody>
          <a:bodyPr wrap="square">
            <a:spAutoFit/>
          </a:bodyPr>
          <a:lstStyle/>
          <a:p>
            <a:pPr>
              <a:defRPr sz="1200">
                <a:solidFill>
                  <a:srgbClr val="1F2937"/>
                </a:solidFill>
              </a:defRPr>
            </a:pPr>
          </a:p>
        </p:txBody>
      </p:sp>
      <p:sp>
        <p:nvSpPr>
          <p:cNvPr id="14" name="Oval 13"/>
          <p:cNvSpPr/>
          <p:nvPr/>
        </p:nvSpPr>
        <p:spPr>
          <a:xfrm>
            <a:off x="731520" y="3447288"/>
            <a:ext cx="1737360" cy="868680"/>
          </a:xfrm>
          <a:prstGeom prst="ellipse">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1C2C"/>
                </a:solidFill>
              </a:defRPr>
            </a:pPr>
          </a:p>
        </p:txBody>
      </p:sp>
      <p:sp>
        <p:nvSpPr>
          <p:cNvPr id="15" name="Rounded Rectangle 14"/>
          <p:cNvSpPr/>
          <p:nvPr/>
        </p:nvSpPr>
        <p:spPr>
          <a:xfrm>
            <a:off x="2651760" y="3447288"/>
            <a:ext cx="4297680"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88920" y="3520440"/>
            <a:ext cx="4023360" cy="722375"/>
          </a:xfrm>
          <a:prstGeom prst="rect">
            <a:avLst/>
          </a:prstGeom>
          <a:noFill/>
        </p:spPr>
        <p:txBody>
          <a:bodyPr wrap="square">
            <a:spAutoFit/>
          </a:bodyPr>
          <a:lstStyle/>
          <a:p>
            <a:pPr>
              <a:defRPr sz="1200">
                <a:solidFill>
                  <a:srgbClr val="1F2937"/>
                </a:solidFill>
              </a:defRPr>
            </a:pPr>
          </a:p>
        </p:txBody>
      </p:sp>
      <p:sp>
        <p:nvSpPr>
          <p:cNvPr id="17" name="Rounded Rectangle 16"/>
          <p:cNvSpPr/>
          <p:nvPr/>
        </p:nvSpPr>
        <p:spPr>
          <a:xfrm>
            <a:off x="7132320" y="3447288"/>
            <a:ext cx="4297680"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80" y="3520440"/>
            <a:ext cx="4023360" cy="722375"/>
          </a:xfrm>
          <a:prstGeom prst="rect">
            <a:avLst/>
          </a:prstGeom>
          <a:noFill/>
        </p:spPr>
        <p:txBody>
          <a:bodyPr wrap="square">
            <a:spAutoFit/>
          </a:bodyPr>
          <a:lstStyle/>
          <a:p>
            <a:pPr>
              <a:defRPr sz="1200">
                <a:solidFill>
                  <a:srgbClr val="1F2937"/>
                </a:solidFill>
              </a:defRPr>
            </a:pPr>
          </a:p>
        </p:txBody>
      </p:sp>
      <p:sp>
        <p:nvSpPr>
          <p:cNvPr id="19" name="Oval 18"/>
          <p:cNvSpPr/>
          <p:nvPr/>
        </p:nvSpPr>
        <p:spPr>
          <a:xfrm>
            <a:off x="731520" y="4425696"/>
            <a:ext cx="1737360" cy="868680"/>
          </a:xfrm>
          <a:prstGeom prst="ellipse">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1C2C"/>
                </a:solidFill>
              </a:defRPr>
            </a:pPr>
          </a:p>
        </p:txBody>
      </p:sp>
      <p:sp>
        <p:nvSpPr>
          <p:cNvPr id="20" name="Rounded Rectangle 19"/>
          <p:cNvSpPr/>
          <p:nvPr/>
        </p:nvSpPr>
        <p:spPr>
          <a:xfrm>
            <a:off x="2651760" y="4425696"/>
            <a:ext cx="4297680"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88920" y="4498848"/>
            <a:ext cx="4023360" cy="722375"/>
          </a:xfrm>
          <a:prstGeom prst="rect">
            <a:avLst/>
          </a:prstGeom>
          <a:noFill/>
        </p:spPr>
        <p:txBody>
          <a:bodyPr wrap="square">
            <a:spAutoFit/>
          </a:bodyPr>
          <a:lstStyle/>
          <a:p>
            <a:pPr>
              <a:defRPr sz="1200">
                <a:solidFill>
                  <a:srgbClr val="1F2937"/>
                </a:solidFill>
              </a:defRPr>
            </a:pPr>
          </a:p>
        </p:txBody>
      </p:sp>
      <p:sp>
        <p:nvSpPr>
          <p:cNvPr id="22" name="Rounded Rectangle 21"/>
          <p:cNvSpPr/>
          <p:nvPr/>
        </p:nvSpPr>
        <p:spPr>
          <a:xfrm>
            <a:off x="7132320" y="4425696"/>
            <a:ext cx="4297680"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4498848"/>
            <a:ext cx="4023360" cy="722375"/>
          </a:xfrm>
          <a:prstGeom prst="rect">
            <a:avLst/>
          </a:prstGeom>
          <a:noFill/>
        </p:spPr>
        <p:txBody>
          <a:bodyPr wrap="square">
            <a:spAutoFit/>
          </a:bodyPr>
          <a:lstStyle/>
          <a:p>
            <a:pPr>
              <a:defRPr sz="1200">
                <a:solidFill>
                  <a:srgbClr val="1F2937"/>
                </a:solidFill>
              </a:defRPr>
            </a:pPr>
          </a:p>
        </p:txBody>
      </p:sp>
      <p:sp>
        <p:nvSpPr>
          <p:cNvPr id="24" name="Oval 23"/>
          <p:cNvSpPr/>
          <p:nvPr/>
        </p:nvSpPr>
        <p:spPr>
          <a:xfrm>
            <a:off x="731520" y="5404104"/>
            <a:ext cx="1737360" cy="868680"/>
          </a:xfrm>
          <a:prstGeom prst="ellipse">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1C2C"/>
                </a:solidFill>
              </a:defRPr>
            </a:pPr>
          </a:p>
        </p:txBody>
      </p:sp>
      <p:sp>
        <p:nvSpPr>
          <p:cNvPr id="25" name="Rounded Rectangle 24"/>
          <p:cNvSpPr/>
          <p:nvPr/>
        </p:nvSpPr>
        <p:spPr>
          <a:xfrm>
            <a:off x="2651760" y="5404104"/>
            <a:ext cx="4297680"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88920" y="5477256"/>
            <a:ext cx="4023360" cy="722375"/>
          </a:xfrm>
          <a:prstGeom prst="rect">
            <a:avLst/>
          </a:prstGeom>
          <a:noFill/>
        </p:spPr>
        <p:txBody>
          <a:bodyPr wrap="square">
            <a:spAutoFit/>
          </a:bodyPr>
          <a:lstStyle/>
          <a:p>
            <a:pPr>
              <a:defRPr sz="1200">
                <a:solidFill>
                  <a:srgbClr val="1F2937"/>
                </a:solidFill>
              </a:defRPr>
            </a:pPr>
          </a:p>
        </p:txBody>
      </p:sp>
      <p:sp>
        <p:nvSpPr>
          <p:cNvPr id="27" name="Rounded Rectangle 26"/>
          <p:cNvSpPr/>
          <p:nvPr/>
        </p:nvSpPr>
        <p:spPr>
          <a:xfrm>
            <a:off x="7132320" y="5404104"/>
            <a:ext cx="4297680"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69480" y="5477256"/>
            <a:ext cx="4023360" cy="722375"/>
          </a:xfrm>
          <a:prstGeom prst="rect">
            <a:avLst/>
          </a:prstGeom>
          <a:noFill/>
        </p:spPr>
        <p:txBody>
          <a:bodyPr wrap="square">
            <a:spAutoFit/>
          </a:bodyPr>
          <a:lstStyle/>
          <a:p>
            <a:pPr>
              <a:defRPr sz="1200">
                <a:solidFill>
                  <a:srgbClr val="1F2937"/>
                </a:solidFill>
              </a:defRPr>
            </a:p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D97706"/>
                </a:solidFill>
              </a:defRPr>
            </a:pPr>
            <a:r>
              <a:t>端到端價值鏈診斷  ｜  版型 5：麥肯錫論法  ｜  McKinsey &amp; Company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4748B"/>
                </a:solidFill>
              </a:defRPr>
            </a:pPr>
            <a:r>
              <a:t>5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051C2C"/>
                </a:solidFill>
              </a:defRPr>
            </a:pPr>
            <a:r>
              <a:t>端到端價值鏈診斷：高毛利源於關鍵組裝與模組選配，最大風險在交機驗收</a:t>
            </a:r>
          </a:p>
          <a:p>
            <a:pPr>
              <a:defRPr sz="1250">
                <a:solidFill>
                  <a:srgbClr val="64748B"/>
                </a:solidFill>
              </a:defRPr>
            </a:pPr>
            <a:r>
              <a:t>沿著機台生產至交付流程，剖析各階段運作實務、核心利潤點與潛在風險</a:t>
            </a:r>
          </a:p>
        </p:txBody>
      </p:sp>
      <p:sp>
        <p:nvSpPr>
          <p:cNvPr id="5" name="Rectangle 4"/>
          <p:cNvSpPr/>
          <p:nvPr/>
        </p:nvSpPr>
        <p:spPr>
          <a:xfrm>
            <a:off x="731520" y="1627632"/>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4748B"/>
                </a:solidFill>
              </a:defRPr>
            </a:pPr>
            <a:r>
              <a:t>資料來源：臺灣高等法院臺南分院 114年度上字第149號判決、機械設備業供應鏈價值鏈模型</a:t>
            </a:r>
          </a:p>
        </p:txBody>
      </p:sp>
      <p:sp>
        <p:nvSpPr>
          <p:cNvPr id="7" name="Chevron 6"/>
          <p:cNvSpPr/>
          <p:nvPr/>
        </p:nvSpPr>
        <p:spPr>
          <a:xfrm>
            <a:off x="2834640" y="1828800"/>
            <a:ext cx="2753258" cy="594360"/>
          </a:xfrm>
          <a:prstGeom prst="chevron">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階段 1：研發與進料</a:t>
            </a:r>
          </a:p>
        </p:txBody>
      </p:sp>
      <p:sp>
        <p:nvSpPr>
          <p:cNvPr id="8" name="Chevron 7"/>
          <p:cNvSpPr/>
          <p:nvPr/>
        </p:nvSpPr>
        <p:spPr>
          <a:xfrm>
            <a:off x="5770778" y="1828800"/>
            <a:ext cx="2753258" cy="594360"/>
          </a:xfrm>
          <a:prstGeom prst="chevron">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階段 2：模組組裝調校</a:t>
            </a:r>
          </a:p>
        </p:txBody>
      </p:sp>
      <p:sp>
        <p:nvSpPr>
          <p:cNvPr id="9" name="Chevron 8"/>
          <p:cNvSpPr/>
          <p:nvPr/>
        </p:nvSpPr>
        <p:spPr>
          <a:xfrm>
            <a:off x="8706916" y="1828800"/>
            <a:ext cx="2753258" cy="594360"/>
          </a:xfrm>
          <a:prstGeom prst="chevron">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階段 3：交機試車驗收</a:t>
            </a:r>
          </a:p>
        </p:txBody>
      </p:sp>
      <p:sp>
        <p:nvSpPr>
          <p:cNvPr id="10" name="Rectangle 9"/>
          <p:cNvSpPr/>
          <p:nvPr/>
        </p:nvSpPr>
        <p:spPr>
          <a:xfrm>
            <a:off x="731520" y="2606040"/>
            <a:ext cx="1920240" cy="118872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FFFFF"/>
                </a:solidFill>
              </a:defRPr>
            </a:pPr>
            <a:r>
              <a:t>要素 1</a:t>
            </a:r>
          </a:p>
        </p:txBody>
      </p:sp>
      <p:sp>
        <p:nvSpPr>
          <p:cNvPr id="11" name="Rounded Rectangle 10"/>
          <p:cNvSpPr/>
          <p:nvPr/>
        </p:nvSpPr>
        <p:spPr>
          <a:xfrm>
            <a:off x="2834640" y="2606040"/>
            <a:ext cx="2753258"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743200"/>
            <a:ext cx="2478938" cy="914400"/>
          </a:xfrm>
          <a:prstGeom prst="rect">
            <a:avLst/>
          </a:prstGeom>
          <a:noFill/>
        </p:spPr>
        <p:txBody>
          <a:bodyPr wrap="square">
            <a:spAutoFit/>
          </a:bodyPr>
          <a:lstStyle/>
          <a:p>
            <a:pPr>
              <a:defRPr sz="1250">
                <a:solidFill>
                  <a:srgbClr val="1F2937"/>
                </a:solidFill>
              </a:defRPr>
            </a:pPr>
            <a:r>
              <a:t>—</a:t>
            </a:r>
          </a:p>
        </p:txBody>
      </p:sp>
      <p:sp>
        <p:nvSpPr>
          <p:cNvPr id="13" name="Rounded Rectangle 12"/>
          <p:cNvSpPr/>
          <p:nvPr/>
        </p:nvSpPr>
        <p:spPr>
          <a:xfrm>
            <a:off x="5770778" y="2606040"/>
            <a:ext cx="2753258"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07938" y="2743200"/>
            <a:ext cx="2478938" cy="914400"/>
          </a:xfrm>
          <a:prstGeom prst="rect">
            <a:avLst/>
          </a:prstGeom>
          <a:noFill/>
        </p:spPr>
        <p:txBody>
          <a:bodyPr wrap="square">
            <a:spAutoFit/>
          </a:bodyPr>
          <a:lstStyle/>
          <a:p>
            <a:pPr>
              <a:defRPr sz="1250">
                <a:solidFill>
                  <a:srgbClr val="1F2937"/>
                </a:solidFill>
              </a:defRPr>
            </a:pPr>
            <a:r>
              <a:t>—</a:t>
            </a:r>
          </a:p>
        </p:txBody>
      </p:sp>
      <p:sp>
        <p:nvSpPr>
          <p:cNvPr id="15" name="Rounded Rectangle 14"/>
          <p:cNvSpPr/>
          <p:nvPr/>
        </p:nvSpPr>
        <p:spPr>
          <a:xfrm>
            <a:off x="8706916" y="2606040"/>
            <a:ext cx="2753258"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44076" y="2743200"/>
            <a:ext cx="2478938" cy="914400"/>
          </a:xfrm>
          <a:prstGeom prst="rect">
            <a:avLst/>
          </a:prstGeom>
          <a:noFill/>
        </p:spPr>
        <p:txBody>
          <a:bodyPr wrap="square">
            <a:spAutoFit/>
          </a:bodyPr>
          <a:lstStyle/>
          <a:p>
            <a:pPr>
              <a:defRPr sz="1250">
                <a:solidFill>
                  <a:srgbClr val="1F2937"/>
                </a:solidFill>
              </a:defRPr>
            </a:pPr>
            <a:r>
              <a:t>—</a:t>
            </a:r>
          </a:p>
        </p:txBody>
      </p:sp>
      <p:sp>
        <p:nvSpPr>
          <p:cNvPr id="17" name="Rectangle 16"/>
          <p:cNvSpPr/>
          <p:nvPr/>
        </p:nvSpPr>
        <p:spPr>
          <a:xfrm>
            <a:off x="731520" y="3977639"/>
            <a:ext cx="1920240" cy="118872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FFFFF"/>
                </a:solidFill>
              </a:defRPr>
            </a:pPr>
            <a:r>
              <a:t>要素 2</a:t>
            </a:r>
          </a:p>
        </p:txBody>
      </p:sp>
      <p:sp>
        <p:nvSpPr>
          <p:cNvPr id="18" name="Rounded Rectangle 17"/>
          <p:cNvSpPr/>
          <p:nvPr/>
        </p:nvSpPr>
        <p:spPr>
          <a:xfrm>
            <a:off x="2834640" y="3977639"/>
            <a:ext cx="2753258"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4114800"/>
            <a:ext cx="2478938" cy="914400"/>
          </a:xfrm>
          <a:prstGeom prst="rect">
            <a:avLst/>
          </a:prstGeom>
          <a:noFill/>
        </p:spPr>
        <p:txBody>
          <a:bodyPr wrap="square">
            <a:spAutoFit/>
          </a:bodyPr>
          <a:lstStyle/>
          <a:p>
            <a:pPr>
              <a:defRPr sz="1250">
                <a:solidFill>
                  <a:srgbClr val="1F2937"/>
                </a:solidFill>
              </a:defRPr>
            </a:pPr>
            <a:r>
              <a:t>—</a:t>
            </a:r>
          </a:p>
        </p:txBody>
      </p:sp>
      <p:sp>
        <p:nvSpPr>
          <p:cNvPr id="20" name="Rounded Rectangle 19"/>
          <p:cNvSpPr/>
          <p:nvPr/>
        </p:nvSpPr>
        <p:spPr>
          <a:xfrm>
            <a:off x="5770778" y="3977639"/>
            <a:ext cx="2753258"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07938" y="4114800"/>
            <a:ext cx="2478938" cy="914400"/>
          </a:xfrm>
          <a:prstGeom prst="rect">
            <a:avLst/>
          </a:prstGeom>
          <a:noFill/>
        </p:spPr>
        <p:txBody>
          <a:bodyPr wrap="square">
            <a:spAutoFit/>
          </a:bodyPr>
          <a:lstStyle/>
          <a:p>
            <a:pPr>
              <a:defRPr sz="1250">
                <a:solidFill>
                  <a:srgbClr val="1F2937"/>
                </a:solidFill>
              </a:defRPr>
            </a:pPr>
            <a:r>
              <a:t>—</a:t>
            </a:r>
          </a:p>
        </p:txBody>
      </p:sp>
      <p:sp>
        <p:nvSpPr>
          <p:cNvPr id="22" name="Rounded Rectangle 21"/>
          <p:cNvSpPr/>
          <p:nvPr/>
        </p:nvSpPr>
        <p:spPr>
          <a:xfrm>
            <a:off x="8706916" y="3977639"/>
            <a:ext cx="2753258"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44076" y="4114800"/>
            <a:ext cx="2478938" cy="914400"/>
          </a:xfrm>
          <a:prstGeom prst="rect">
            <a:avLst/>
          </a:prstGeom>
          <a:noFill/>
        </p:spPr>
        <p:txBody>
          <a:bodyPr wrap="square">
            <a:spAutoFit/>
          </a:bodyPr>
          <a:lstStyle/>
          <a:p>
            <a:pPr>
              <a:defRPr sz="1250">
                <a:solidFill>
                  <a:srgbClr val="1F2937"/>
                </a:solidFill>
              </a:defRPr>
            </a:pPr>
            <a:r>
              <a:t>—</a:t>
            </a:r>
          </a:p>
        </p:txBody>
      </p:sp>
      <p:sp>
        <p:nvSpPr>
          <p:cNvPr id="24" name="Rectangle 23"/>
          <p:cNvSpPr/>
          <p:nvPr/>
        </p:nvSpPr>
        <p:spPr>
          <a:xfrm>
            <a:off x="731520" y="5349240"/>
            <a:ext cx="1920240" cy="1188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FFFFF"/>
                </a:solidFill>
              </a:defRPr>
            </a:pPr>
            <a:r>
              <a:t>要素 3</a:t>
            </a:r>
          </a:p>
        </p:txBody>
      </p:sp>
      <p:sp>
        <p:nvSpPr>
          <p:cNvPr id="25" name="Rounded Rectangle 24"/>
          <p:cNvSpPr/>
          <p:nvPr/>
        </p:nvSpPr>
        <p:spPr>
          <a:xfrm>
            <a:off x="2834640" y="5349240"/>
            <a:ext cx="2753258" cy="118872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71800" y="5486400"/>
            <a:ext cx="2478938" cy="914400"/>
          </a:xfrm>
          <a:prstGeom prst="rect">
            <a:avLst/>
          </a:prstGeom>
          <a:noFill/>
        </p:spPr>
        <p:txBody>
          <a:bodyPr wrap="square">
            <a:spAutoFit/>
          </a:bodyPr>
          <a:lstStyle/>
          <a:p>
            <a:pPr>
              <a:defRPr sz="1250">
                <a:solidFill>
                  <a:srgbClr val="1F2937"/>
                </a:solidFill>
              </a:defRPr>
            </a:pPr>
            <a:r>
              <a:t>—</a:t>
            </a:r>
          </a:p>
        </p:txBody>
      </p:sp>
      <p:sp>
        <p:nvSpPr>
          <p:cNvPr id="27" name="Rounded Rectangle 26"/>
          <p:cNvSpPr/>
          <p:nvPr/>
        </p:nvSpPr>
        <p:spPr>
          <a:xfrm>
            <a:off x="5770778" y="5349240"/>
            <a:ext cx="2753258" cy="118872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07938" y="5486400"/>
            <a:ext cx="2478938" cy="914400"/>
          </a:xfrm>
          <a:prstGeom prst="rect">
            <a:avLst/>
          </a:prstGeom>
          <a:noFill/>
        </p:spPr>
        <p:txBody>
          <a:bodyPr wrap="square">
            <a:spAutoFit/>
          </a:bodyPr>
          <a:lstStyle/>
          <a:p>
            <a:pPr>
              <a:defRPr sz="1250">
                <a:solidFill>
                  <a:srgbClr val="1F2937"/>
                </a:solidFill>
              </a:defRPr>
            </a:pPr>
            <a:r>
              <a:t>—</a:t>
            </a:r>
          </a:p>
        </p:txBody>
      </p:sp>
      <p:sp>
        <p:nvSpPr>
          <p:cNvPr id="29" name="Rounded Rectangle 28"/>
          <p:cNvSpPr/>
          <p:nvPr/>
        </p:nvSpPr>
        <p:spPr>
          <a:xfrm>
            <a:off x="8706916" y="5349240"/>
            <a:ext cx="2753258" cy="118872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44076" y="5486400"/>
            <a:ext cx="2478938" cy="914400"/>
          </a:xfrm>
          <a:prstGeom prst="rect">
            <a:avLst/>
          </a:prstGeom>
          <a:noFill/>
        </p:spPr>
        <p:txBody>
          <a:bodyPr wrap="square">
            <a:spAutoFit/>
          </a:bodyPr>
          <a:lstStyle/>
          <a:p>
            <a:pPr>
              <a:defRPr sz="1250">
                <a:solidFill>
                  <a:srgbClr val="1F2937"/>
                </a:solidFill>
              </a:defRPr>
            </a:pP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A100FF"/>
                </a:solidFill>
              </a:defRPr>
            </a:pPr>
            <a:r>
              <a:t>交易金流全景  ｜  版型 4：連鎖論法  ｜  Accenture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4748B"/>
                </a:solidFill>
              </a:defRPr>
            </a:pPr>
            <a:r>
              <a:t>6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111827"/>
                </a:solidFill>
              </a:defRPr>
            </a:pPr>
            <a:r>
              <a:t>資本財交易四階段閉環：自訂金支付至最終驗收的完整金流鏈條</a:t>
            </a:r>
          </a:p>
          <a:p>
            <a:pPr>
              <a:defRPr sz="1250">
                <a:solidFill>
                  <a:srgbClr val="64748B"/>
                </a:solidFill>
              </a:defRPr>
            </a:pPr>
            <a:r>
              <a:t>揭示成型機台買賣之現金流轉化因果順序與回款關鍵里程碑</a:t>
            </a:r>
          </a:p>
        </p:txBody>
      </p:sp>
      <p:sp>
        <p:nvSpPr>
          <p:cNvPr id="5" name="Rectangle 4"/>
          <p:cNvSpPr/>
          <p:nvPr/>
        </p:nvSpPr>
        <p:spPr>
          <a:xfrm>
            <a:off x="731520" y="1627632"/>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4748B"/>
                </a:solidFill>
              </a:defRPr>
            </a:pPr>
            <a:r>
              <a:t>資料來源：臺灣雲林地院 112訴64、臺南高分院 114上149 裁判事實陳述</a:t>
            </a:r>
          </a:p>
        </p:txBody>
      </p:sp>
      <p:sp>
        <p:nvSpPr>
          <p:cNvPr id="7" name="Right Arrow 6"/>
          <p:cNvSpPr/>
          <p:nvPr/>
        </p:nvSpPr>
        <p:spPr>
          <a:xfrm>
            <a:off x="731520" y="1874519"/>
            <a:ext cx="10728655" cy="384048"/>
          </a:xfrm>
          <a:prstGeom prst="rightArrow">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defRPr>
            </a:pPr>
            <a:r>
              <a:t>客戶簽約付訂 ──────► 廠內組裝測試 ──────► 現場安裝試沖 ──────► 尾款驗收結清</a:t>
            </a:r>
          </a:p>
        </p:txBody>
      </p:sp>
      <p:sp>
        <p:nvSpPr>
          <p:cNvPr id="8" name="Chevron 7"/>
          <p:cNvSpPr/>
          <p:nvPr/>
        </p:nvSpPr>
        <p:spPr>
          <a:xfrm>
            <a:off x="731520" y="2468880"/>
            <a:ext cx="2510713" cy="777240"/>
          </a:xfrm>
          <a:prstGeom prst="chevron">
            <a:avLst/>
          </a:prstGeom>
          <a:solidFill>
            <a:srgbClr val="6B2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第 1 階段：合約簽訂</a:t>
            </a:r>
          </a:p>
        </p:txBody>
      </p:sp>
      <p:sp>
        <p:nvSpPr>
          <p:cNvPr id="9" name="Rounded Rectangle 8"/>
          <p:cNvSpPr/>
          <p:nvPr/>
        </p:nvSpPr>
        <p:spPr>
          <a:xfrm>
            <a:off x="731520" y="3383280"/>
            <a:ext cx="2510713" cy="2743200"/>
          </a:xfrm>
          <a:prstGeom prst="roundRect">
            <a:avLst/>
          </a:prstGeom>
          <a:solidFill>
            <a:srgbClr val="F9FAF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20440"/>
            <a:ext cx="2144953" cy="2468880"/>
          </a:xfrm>
          <a:prstGeom prst="rect">
            <a:avLst/>
          </a:prstGeom>
          <a:noFill/>
        </p:spPr>
        <p:txBody>
          <a:bodyPr wrap="square">
            <a:spAutoFit/>
          </a:bodyPr>
          <a:lstStyle/>
          <a:p>
            <a:pPr>
              <a:spcAft>
                <a:spcPts val="800"/>
              </a:spcAft>
              <a:defRPr sz="1300">
                <a:solidFill>
                  <a:srgbClr val="0F172A"/>
                </a:solidFill>
              </a:defRPr>
            </a:pPr>
            <a:r>
              <a:t>▪ 鎖定機型（如 PF86L 長衝程特殊零件成型機）</a:t>
            </a:r>
          </a:p>
          <a:p>
            <a:pPr>
              <a:spcAft>
                <a:spcPts val="800"/>
              </a:spcAft>
              <a:defRPr sz="1300">
                <a:solidFill>
                  <a:srgbClr val="0F172A"/>
                </a:solidFill>
              </a:defRPr>
            </a:pPr>
            <a:r>
              <a:t>▪ 買方預付約 20%~25% 簽約訂金（案例：96 萬元）</a:t>
            </a:r>
          </a:p>
          <a:p>
            <a:pPr>
              <a:spcAft>
                <a:spcPts val="800"/>
              </a:spcAft>
              <a:defRPr sz="1300">
                <a:solidFill>
                  <a:srgbClr val="0F172A"/>
                </a:solidFill>
              </a:defRPr>
            </a:pPr>
            <a:r>
              <a:t>▪ 確認特殊扣件模具與夾持翻轉規格需求</a:t>
            </a:r>
          </a:p>
        </p:txBody>
      </p:sp>
      <p:sp>
        <p:nvSpPr>
          <p:cNvPr id="11" name="Chevron 10"/>
          <p:cNvSpPr/>
          <p:nvPr/>
        </p:nvSpPr>
        <p:spPr>
          <a:xfrm>
            <a:off x="3470833" y="2468880"/>
            <a:ext cx="2510713" cy="777240"/>
          </a:xfrm>
          <a:prstGeom prst="chevron">
            <a:avLst/>
          </a:prstGeom>
          <a:solidFill>
            <a:srgbClr val="6B2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第 2 階段：組裝調試</a:t>
            </a:r>
          </a:p>
        </p:txBody>
      </p:sp>
      <p:sp>
        <p:nvSpPr>
          <p:cNvPr id="12" name="Rounded Rectangle 11"/>
          <p:cNvSpPr/>
          <p:nvPr/>
        </p:nvSpPr>
        <p:spPr>
          <a:xfrm>
            <a:off x="3470833" y="3383280"/>
            <a:ext cx="2510713" cy="2743200"/>
          </a:xfrm>
          <a:prstGeom prst="roundRect">
            <a:avLst/>
          </a:prstGeom>
          <a:solidFill>
            <a:srgbClr val="F9FAF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3713" y="3520440"/>
            <a:ext cx="2144953" cy="2468880"/>
          </a:xfrm>
          <a:prstGeom prst="rect">
            <a:avLst/>
          </a:prstGeom>
          <a:noFill/>
        </p:spPr>
        <p:txBody>
          <a:bodyPr wrap="square">
            <a:spAutoFit/>
          </a:bodyPr>
          <a:lstStyle/>
          <a:p>
            <a:pPr>
              <a:spcAft>
                <a:spcPts val="800"/>
              </a:spcAft>
              <a:defRPr sz="1300">
                <a:solidFill>
                  <a:srgbClr val="0F172A"/>
                </a:solidFill>
              </a:defRPr>
            </a:pPr>
            <a:r>
              <a:t>▪ 以 5~10mm 標準機台毛胚庫存快速排程</a:t>
            </a:r>
          </a:p>
          <a:p>
            <a:pPr>
              <a:spcAft>
                <a:spcPts val="800"/>
              </a:spcAft>
              <a:defRPr sz="1300">
                <a:solidFill>
                  <a:srgbClr val="0F172A"/>
                </a:solidFill>
              </a:defRPr>
            </a:pPr>
            <a:r>
              <a:t>▪ 組裝偏心平衡抑震結構與主滑座導軌</a:t>
            </a:r>
          </a:p>
          <a:p>
            <a:pPr>
              <a:spcAft>
                <a:spcPts val="800"/>
              </a:spcAft>
              <a:defRPr sz="1300">
                <a:solidFill>
                  <a:srgbClr val="0F172A"/>
                </a:solidFill>
              </a:defRPr>
            </a:pPr>
            <a:r>
              <a:t>▪ 空機連續運轉檢測衝壓行程與同心度</a:t>
            </a:r>
          </a:p>
        </p:txBody>
      </p:sp>
      <p:sp>
        <p:nvSpPr>
          <p:cNvPr id="14" name="Chevron 13"/>
          <p:cNvSpPr/>
          <p:nvPr/>
        </p:nvSpPr>
        <p:spPr>
          <a:xfrm>
            <a:off x="6210147" y="2468880"/>
            <a:ext cx="2510713" cy="777240"/>
          </a:xfrm>
          <a:prstGeom prst="chevron">
            <a:avLst/>
          </a:prstGeom>
          <a:solidFill>
            <a:srgbClr val="6B2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第 3 階段：到廠交機</a:t>
            </a:r>
          </a:p>
        </p:txBody>
      </p:sp>
      <p:sp>
        <p:nvSpPr>
          <p:cNvPr id="15" name="Rounded Rectangle 14"/>
          <p:cNvSpPr/>
          <p:nvPr/>
        </p:nvSpPr>
        <p:spPr>
          <a:xfrm>
            <a:off x="6210147" y="3383280"/>
            <a:ext cx="2510713" cy="2743200"/>
          </a:xfrm>
          <a:prstGeom prst="roundRect">
            <a:avLst/>
          </a:prstGeom>
          <a:solidFill>
            <a:srgbClr val="F9FAF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3520440"/>
            <a:ext cx="2144953" cy="2468880"/>
          </a:xfrm>
          <a:prstGeom prst="rect">
            <a:avLst/>
          </a:prstGeom>
          <a:noFill/>
        </p:spPr>
        <p:txBody>
          <a:bodyPr wrap="square">
            <a:spAutoFit/>
          </a:bodyPr>
          <a:lstStyle/>
          <a:p>
            <a:pPr>
              <a:spcAft>
                <a:spcPts val="800"/>
              </a:spcAft>
              <a:defRPr sz="1300">
                <a:solidFill>
                  <a:srgbClr val="0F172A"/>
                </a:solidFill>
              </a:defRPr>
            </a:pPr>
            <a:r>
              <a:t>▪ 機台吊運至買方廠區並定位固定</a:t>
            </a:r>
          </a:p>
          <a:p>
            <a:pPr>
              <a:spcAft>
                <a:spcPts val="800"/>
              </a:spcAft>
              <a:defRPr sz="1300">
                <a:solidFill>
                  <a:srgbClr val="0F172A"/>
                </a:solidFill>
              </a:defRPr>
            </a:pPr>
            <a:r>
              <a:t>▪ 連接冷卻潤滑系統與電控 PLC 配線</a:t>
            </a:r>
          </a:p>
          <a:p>
            <a:pPr>
              <a:spcAft>
                <a:spcPts val="800"/>
              </a:spcAft>
              <a:defRPr sz="1300">
                <a:solidFill>
                  <a:srgbClr val="0F172A"/>
                </a:solidFill>
              </a:defRPr>
            </a:pPr>
            <a:r>
              <a:t>▪ 配合客戶線材進行首批樣品試沖壓</a:t>
            </a:r>
          </a:p>
        </p:txBody>
      </p:sp>
      <p:sp>
        <p:nvSpPr>
          <p:cNvPr id="17" name="Chevron 16"/>
          <p:cNvSpPr/>
          <p:nvPr/>
        </p:nvSpPr>
        <p:spPr>
          <a:xfrm>
            <a:off x="8949461" y="2468880"/>
            <a:ext cx="2510713" cy="777240"/>
          </a:xfrm>
          <a:prstGeom prst="chevron">
            <a:avLst/>
          </a:prstGeom>
          <a:solidFill>
            <a:srgbClr val="11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第 4 階段：結算保固</a:t>
            </a:r>
          </a:p>
        </p:txBody>
      </p:sp>
      <p:sp>
        <p:nvSpPr>
          <p:cNvPr id="18" name="Rounded Rectangle 17"/>
          <p:cNvSpPr/>
          <p:nvPr/>
        </p:nvSpPr>
        <p:spPr>
          <a:xfrm>
            <a:off x="8949461" y="3383280"/>
            <a:ext cx="2510713" cy="2743200"/>
          </a:xfrm>
          <a:prstGeom prst="roundRect">
            <a:avLst/>
          </a:prstGeom>
          <a:solidFill>
            <a:srgbClr val="F9FAF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3520440"/>
            <a:ext cx="2144953" cy="2468880"/>
          </a:xfrm>
          <a:prstGeom prst="rect">
            <a:avLst/>
          </a:prstGeom>
          <a:noFill/>
        </p:spPr>
        <p:txBody>
          <a:bodyPr wrap="square">
            <a:spAutoFit/>
          </a:bodyPr>
          <a:lstStyle/>
          <a:p>
            <a:pPr>
              <a:spcAft>
                <a:spcPts val="800"/>
              </a:spcAft>
              <a:defRPr sz="1300">
                <a:solidFill>
                  <a:srgbClr val="0F172A"/>
                </a:solidFill>
              </a:defRPr>
            </a:pPr>
            <a:r>
              <a:t>▪ 樣品合規後，買方結清剩餘 75% 尾款</a:t>
            </a:r>
          </a:p>
          <a:p>
            <a:pPr>
              <a:spcAft>
                <a:spcPts val="800"/>
              </a:spcAft>
              <a:defRPr sz="1300">
                <a:solidFill>
                  <a:srgbClr val="0F172A"/>
                </a:solidFill>
              </a:defRPr>
            </a:pPr>
            <a:r>
              <a:t>▪ 啟動 1 年機台結構保固與現場調校服務</a:t>
            </a:r>
          </a:p>
          <a:p>
            <a:pPr>
              <a:spcAft>
                <a:spcPts val="800"/>
              </a:spcAft>
              <a:defRPr sz="1300">
                <a:solidFill>
                  <a:srgbClr val="0F172A"/>
                </a:solidFill>
              </a:defRPr>
            </a:pPr>
            <a:r>
              <a:t>▪ 建立長期沖棒、剪模、牙板等耗材供應關係</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29BA74"/>
                </a:solidFill>
              </a:defRPr>
            </a:pPr>
            <a:r>
              <a:t>專利技術護城河  ｜  版型 3：結合論法  ｜  BCG (Boston Consulting Group)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B7280"/>
                </a:solidFill>
              </a:defRPr>
            </a:pPr>
            <a:r>
              <a:t>7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004F32"/>
                </a:solidFill>
              </a:defRPr>
            </a:pPr>
            <a:r>
              <a:t>「翻轉夾持」與「作動抑震」兩大專利同時成立，方能切入汽機車特殊長件</a:t>
            </a:r>
          </a:p>
          <a:p>
            <a:pPr>
              <a:defRPr sz="1250">
                <a:solidFill>
                  <a:srgbClr val="6B7280"/>
                </a:solidFill>
              </a:defRPr>
            </a:pPr>
            <a:r>
              <a:t>雙專利機構協同作動，解決高速冷鍛多模次連續成型之物理極限</a:t>
            </a:r>
          </a:p>
        </p:txBody>
      </p:sp>
      <p:sp>
        <p:nvSpPr>
          <p:cNvPr id="5" name="Rectangle 4"/>
          <p:cNvSpPr/>
          <p:nvPr/>
        </p:nvSpPr>
        <p:spPr>
          <a:xfrm>
            <a:off x="731520" y="1627632"/>
            <a:ext cx="10728655" cy="22860"/>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B7280"/>
                </a:solidFill>
              </a:defRPr>
            </a:pPr>
            <a:r>
              <a:t>資料來源：經濟部智慧財產局專利公報（發明第 I589390 號、新型第 M627444 號）</a:t>
            </a:r>
          </a:p>
        </p:txBody>
      </p:sp>
      <p:sp>
        <p:nvSpPr>
          <p:cNvPr id="7" name="Rounded Rectangle 6"/>
          <p:cNvSpPr/>
          <p:nvPr/>
        </p:nvSpPr>
        <p:spPr>
          <a:xfrm>
            <a:off x="2011680" y="1783080"/>
            <a:ext cx="8138160" cy="731520"/>
          </a:xfrm>
          <a:prstGeom prst="roundRect">
            <a:avLst/>
          </a:prstGeom>
          <a:solidFill>
            <a:srgbClr val="004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雙專利協同：突破長衝程異形螺栓連續鍛壓之卡料與高速震動瓶頸</a:t>
            </a:r>
          </a:p>
        </p:txBody>
      </p:sp>
      <p:sp>
        <p:nvSpPr>
          <p:cNvPr id="8" name="Rounded Rectangle 7"/>
          <p:cNvSpPr/>
          <p:nvPr/>
        </p:nvSpPr>
        <p:spPr>
          <a:xfrm>
            <a:off x="731520" y="2788920"/>
            <a:ext cx="5193792" cy="777240"/>
          </a:xfrm>
          <a:prstGeom prst="round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FFFFF"/>
                </a:solidFill>
              </a:defRPr>
            </a:pPr>
            <a:r>
              <a:t>主要素 1：發明專利 I589390（成型機之夾持裝置）</a:t>
            </a:r>
          </a:p>
        </p:txBody>
      </p:sp>
      <p:sp>
        <p:nvSpPr>
          <p:cNvPr id="9" name="Rounded Rectangle 8"/>
          <p:cNvSpPr/>
          <p:nvPr/>
        </p:nvSpPr>
        <p:spPr>
          <a:xfrm>
            <a:off x="731520" y="3840480"/>
            <a:ext cx="1639824" cy="2286000"/>
          </a:xfrm>
          <a:prstGeom prst="roundRect">
            <a:avLst/>
          </a:prstGeom>
          <a:solidFill>
            <a:srgbClr val="F3F4F6"/>
          </a:solidFill>
          <a:ln w="15240">
            <a:solidFill>
              <a:srgbClr val="29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931920"/>
            <a:ext cx="1456944" cy="2103120"/>
          </a:xfrm>
          <a:prstGeom prst="rect">
            <a:avLst/>
          </a:prstGeom>
          <a:noFill/>
        </p:spPr>
        <p:txBody>
          <a:bodyPr wrap="square">
            <a:spAutoFit/>
          </a:bodyPr>
          <a:lstStyle/>
          <a:p>
            <a:pPr>
              <a:defRPr sz="1150">
                <a:solidFill>
                  <a:srgbClr val="1F2937"/>
                </a:solidFill>
              </a:defRPr>
            </a:pPr>
            <a:r>
              <a:t>具備「會夾會翻」精密機械手臂機構，解決長衝程工件在模次間翻轉痛點</a:t>
            </a:r>
          </a:p>
        </p:txBody>
      </p:sp>
      <p:sp>
        <p:nvSpPr>
          <p:cNvPr id="11" name="Rounded Rectangle 10"/>
          <p:cNvSpPr/>
          <p:nvPr/>
        </p:nvSpPr>
        <p:spPr>
          <a:xfrm>
            <a:off x="2508504" y="3840480"/>
            <a:ext cx="1639824" cy="2286000"/>
          </a:xfrm>
          <a:prstGeom prst="roundRect">
            <a:avLst/>
          </a:prstGeom>
          <a:solidFill>
            <a:srgbClr val="F3F4F6"/>
          </a:solidFill>
          <a:ln w="15240">
            <a:solidFill>
              <a:srgbClr val="29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9944" y="3931920"/>
            <a:ext cx="1456944" cy="2103120"/>
          </a:xfrm>
          <a:prstGeom prst="rect">
            <a:avLst/>
          </a:prstGeom>
          <a:noFill/>
        </p:spPr>
        <p:txBody>
          <a:bodyPr wrap="square">
            <a:spAutoFit/>
          </a:bodyPr>
          <a:lstStyle/>
          <a:p>
            <a:pPr>
              <a:defRPr sz="1150">
                <a:solidFill>
                  <a:srgbClr val="1F2937"/>
                </a:solidFill>
              </a:defRPr>
            </a:pPr>
            <a:r>
              <a:t>實現多沖程連續沖壓免人工二次加工，生產速度達每分鐘 150 顆以上</a:t>
            </a:r>
          </a:p>
        </p:txBody>
      </p:sp>
      <p:sp>
        <p:nvSpPr>
          <p:cNvPr id="13" name="Rounded Rectangle 12"/>
          <p:cNvSpPr/>
          <p:nvPr/>
        </p:nvSpPr>
        <p:spPr>
          <a:xfrm>
            <a:off x="4285488" y="3840480"/>
            <a:ext cx="1639824" cy="2286000"/>
          </a:xfrm>
          <a:prstGeom prst="roundRect">
            <a:avLst/>
          </a:prstGeom>
          <a:solidFill>
            <a:srgbClr val="F3F4F6"/>
          </a:solidFill>
          <a:ln w="15240">
            <a:solidFill>
              <a:srgbClr val="29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6928" y="3931920"/>
            <a:ext cx="1456944" cy="2103120"/>
          </a:xfrm>
          <a:prstGeom prst="rect">
            <a:avLst/>
          </a:prstGeom>
          <a:noFill/>
        </p:spPr>
        <p:txBody>
          <a:bodyPr wrap="square">
            <a:spAutoFit/>
          </a:bodyPr>
          <a:lstStyle/>
          <a:p>
            <a:pPr>
              <a:defRPr sz="1150">
                <a:solidFill>
                  <a:srgbClr val="1F2937"/>
                </a:solidFill>
              </a:defRPr>
            </a:pPr>
            <a:r>
              <a:t>專利權期間至 2035 年，構築同級機種之關鍵技術壁壘</a:t>
            </a:r>
          </a:p>
        </p:txBody>
      </p:sp>
      <p:sp>
        <p:nvSpPr>
          <p:cNvPr id="15" name="Rounded Rectangle 14"/>
          <p:cNvSpPr/>
          <p:nvPr/>
        </p:nvSpPr>
        <p:spPr>
          <a:xfrm>
            <a:off x="6263640" y="2788920"/>
            <a:ext cx="5193792" cy="777240"/>
          </a:xfrm>
          <a:prstGeom prst="round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FFFFF"/>
                </a:solidFill>
              </a:defRPr>
            </a:pPr>
            <a:r>
              <a:t>主要素 2：新型專利 M627444（具抑制作動震動之成型機）</a:t>
            </a:r>
          </a:p>
        </p:txBody>
      </p:sp>
      <p:sp>
        <p:nvSpPr>
          <p:cNvPr id="16" name="Rounded Rectangle 15"/>
          <p:cNvSpPr/>
          <p:nvPr/>
        </p:nvSpPr>
        <p:spPr>
          <a:xfrm>
            <a:off x="6263640" y="3840480"/>
            <a:ext cx="1639824" cy="2286000"/>
          </a:xfrm>
          <a:prstGeom prst="roundRect">
            <a:avLst/>
          </a:prstGeom>
          <a:solidFill>
            <a:srgbClr val="F3F4F6"/>
          </a:solidFill>
          <a:ln w="1524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79" y="3931920"/>
            <a:ext cx="1456944" cy="2103120"/>
          </a:xfrm>
          <a:prstGeom prst="rect">
            <a:avLst/>
          </a:prstGeom>
          <a:noFill/>
        </p:spPr>
        <p:txBody>
          <a:bodyPr wrap="square">
            <a:spAutoFit/>
          </a:bodyPr>
          <a:lstStyle/>
          <a:p>
            <a:pPr>
              <a:defRPr sz="1150">
                <a:solidFill>
                  <a:srgbClr val="1F2937"/>
                </a:solidFill>
              </a:defRPr>
            </a:pPr>
            <a:r>
              <a:t>專利偏心反向機構有效抵銷衝壓主滑座高速往復運動產生的劇烈慣性震動</a:t>
            </a:r>
          </a:p>
        </p:txBody>
      </p:sp>
      <p:sp>
        <p:nvSpPr>
          <p:cNvPr id="18" name="Rounded Rectangle 17"/>
          <p:cNvSpPr/>
          <p:nvPr/>
        </p:nvSpPr>
        <p:spPr>
          <a:xfrm>
            <a:off x="8040624" y="3840480"/>
            <a:ext cx="1639824" cy="2286000"/>
          </a:xfrm>
          <a:prstGeom prst="roundRect">
            <a:avLst/>
          </a:prstGeom>
          <a:solidFill>
            <a:srgbClr val="F3F4F6"/>
          </a:solidFill>
          <a:ln w="1524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2063" y="3931920"/>
            <a:ext cx="1456944" cy="2103120"/>
          </a:xfrm>
          <a:prstGeom prst="rect">
            <a:avLst/>
          </a:prstGeom>
          <a:noFill/>
        </p:spPr>
        <p:txBody>
          <a:bodyPr wrap="square">
            <a:spAutoFit/>
          </a:bodyPr>
          <a:lstStyle/>
          <a:p>
            <a:pPr>
              <a:defRPr sz="1150">
                <a:solidFill>
                  <a:srgbClr val="1F2937"/>
                </a:solidFill>
              </a:defRPr>
            </a:pPr>
            <a:r>
              <a:t>維持高速加工時的同心度穩定，提升成型模具使用壽命達 30% 以上</a:t>
            </a:r>
          </a:p>
        </p:txBody>
      </p:sp>
      <p:sp>
        <p:nvSpPr>
          <p:cNvPr id="20" name="Rounded Rectangle 19"/>
          <p:cNvSpPr/>
          <p:nvPr/>
        </p:nvSpPr>
        <p:spPr>
          <a:xfrm>
            <a:off x="9817608" y="3840480"/>
            <a:ext cx="1639824" cy="2286000"/>
          </a:xfrm>
          <a:prstGeom prst="roundRect">
            <a:avLst/>
          </a:prstGeom>
          <a:solidFill>
            <a:srgbClr val="F3F4F6"/>
          </a:solidFill>
          <a:ln w="1524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09048" y="3931920"/>
            <a:ext cx="1456944" cy="2103120"/>
          </a:xfrm>
          <a:prstGeom prst="rect">
            <a:avLst/>
          </a:prstGeom>
          <a:noFill/>
        </p:spPr>
        <p:txBody>
          <a:bodyPr wrap="square">
            <a:spAutoFit/>
          </a:bodyPr>
          <a:lstStyle/>
          <a:p>
            <a:pPr>
              <a:defRPr sz="1150">
                <a:solidFill>
                  <a:srgbClr val="1F2937"/>
                </a:solidFill>
              </a:defRPr>
            </a:pPr>
            <a:r>
              <a:t>大幅降低廠房噪音與基礎衝擊，符合現代綠色智慧製造廠房標準</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29BA74"/>
                </a:solidFill>
              </a:defRPr>
            </a:pPr>
            <a:r>
              <a:t>產業生態位比較  ｜  版型 7：比較論法  ｜  BCG (Boston Consulting Group)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B7280"/>
                </a:solidFill>
              </a:defRPr>
            </a:pPr>
            <a:r>
              <a:t>8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004F32"/>
                </a:solidFill>
              </a:defRPr>
            </a:pPr>
            <a:r>
              <a:t>跨國設備三梯隊定位：兼具台灣靈活性與日本耐久度，專攻預算中堅市場</a:t>
            </a:r>
          </a:p>
          <a:p>
            <a:pPr>
              <a:defRPr sz="1250">
                <a:solidFill>
                  <a:srgbClr val="6B7280"/>
                </a:solidFill>
              </a:defRPr>
            </a:pPr>
            <a:r>
              <a:t>比對歐日頂級機、中國平價機與三星/朝璟利基機之共通價值與本質差異</a:t>
            </a:r>
          </a:p>
        </p:txBody>
      </p:sp>
      <p:sp>
        <p:nvSpPr>
          <p:cNvPr id="5" name="Rectangle 4"/>
          <p:cNvSpPr/>
          <p:nvPr/>
        </p:nvSpPr>
        <p:spPr>
          <a:xfrm>
            <a:off x="731520" y="1627632"/>
            <a:ext cx="10728655" cy="22860"/>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B7280"/>
                </a:solidFill>
              </a:defRPr>
            </a:pPr>
            <a:r>
              <a:t>資料來源：國際扣件展會參展商比對、Fastener World 產業趨勢專報</a:t>
            </a:r>
          </a:p>
        </p:txBody>
      </p:sp>
      <p:sp>
        <p:nvSpPr>
          <p:cNvPr id="7" name="Rounded Rectangle 6"/>
          <p:cNvSpPr/>
          <p:nvPr/>
        </p:nvSpPr>
        <p:spPr>
          <a:xfrm>
            <a:off x="731520" y="1965960"/>
            <a:ext cx="3474720" cy="4114800"/>
          </a:xfrm>
          <a:prstGeom prst="roundRect">
            <a:avLst/>
          </a:prstGeom>
          <a:solidFill>
            <a:srgbClr val="F3F4F6"/>
          </a:solidFill>
          <a:ln w="19050">
            <a:solidFill>
              <a:srgbClr val="004F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43400" y="1965960"/>
            <a:ext cx="3474720" cy="4114800"/>
          </a:xfrm>
          <a:prstGeom prst="roundRect">
            <a:avLst/>
          </a:prstGeom>
          <a:solidFill>
            <a:srgbClr val="DCFCE7"/>
          </a:solidFill>
          <a:ln w="25400">
            <a:solidFill>
              <a:srgbClr val="29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955279" y="1965960"/>
            <a:ext cx="3474720" cy="4114800"/>
          </a:xfrm>
          <a:prstGeom prst="roundRect">
            <a:avLst/>
          </a:prstGeom>
          <a:solidFill>
            <a:srgbClr val="F3F4F6"/>
          </a:solidFill>
          <a:ln w="1905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3108960" cy="3749039"/>
          </a:xfrm>
          <a:prstGeom prst="rect">
            <a:avLst/>
          </a:prstGeom>
          <a:noFill/>
        </p:spPr>
        <p:txBody>
          <a:bodyPr wrap="square">
            <a:spAutoFit/>
          </a:bodyPr>
          <a:lstStyle/>
          <a:p>
            <a:pPr>
              <a:spcAft>
                <a:spcPts val="1200"/>
              </a:spcAft>
              <a:defRPr sz="1450" b="1">
                <a:solidFill>
                  <a:srgbClr val="004F32"/>
                </a:solidFill>
              </a:defRPr>
            </a:pPr>
            <a:r>
              <a:t>第一梯隊：歐日頂級機（SACMA / Asahi）</a:t>
            </a:r>
          </a:p>
          <a:p>
            <a:pPr>
              <a:spcAft>
                <a:spcPts val="800"/>
              </a:spcAft>
              <a:defRPr sz="1250">
                <a:solidFill>
                  <a:srgbClr val="1F2937"/>
                </a:solidFill>
              </a:defRPr>
            </a:pPr>
            <a:r>
              <a:t>• 單台價格：1,200 萬～2,500 萬元</a:t>
            </a:r>
          </a:p>
          <a:p>
            <a:pPr>
              <a:spcAft>
                <a:spcPts val="800"/>
              </a:spcAft>
              <a:defRPr sz="1250">
                <a:solidFill>
                  <a:srgbClr val="1F2937"/>
                </a:solidFill>
              </a:defRPr>
            </a:pPr>
            <a:r>
              <a:t>• 交期：長達 9～12 個月以上</a:t>
            </a:r>
          </a:p>
          <a:p>
            <a:pPr>
              <a:spcAft>
                <a:spcPts val="800"/>
              </a:spcAft>
              <a:defRPr sz="1250">
                <a:solidFill>
                  <a:srgbClr val="1F2937"/>
                </a:solidFill>
              </a:defRPr>
            </a:pPr>
            <a:r>
              <a:t>• 極致精度（航太與超精密級），但維護與零組件成本極高</a:t>
            </a:r>
          </a:p>
          <a:p>
            <a:pPr>
              <a:spcAft>
                <a:spcPts val="800"/>
              </a:spcAft>
              <a:defRPr sz="1250">
                <a:solidFill>
                  <a:srgbClr val="1F2937"/>
                </a:solidFill>
              </a:defRPr>
            </a:pPr>
            <a:r>
              <a:t>• 適合跨國 Tier 1 扣件巨頭超大批量訂單</a:t>
            </a:r>
          </a:p>
        </p:txBody>
      </p:sp>
      <p:sp>
        <p:nvSpPr>
          <p:cNvPr id="11" name="TextBox 10"/>
          <p:cNvSpPr txBox="1"/>
          <p:nvPr/>
        </p:nvSpPr>
        <p:spPr>
          <a:xfrm>
            <a:off x="4526280" y="2148840"/>
            <a:ext cx="3108960" cy="3749039"/>
          </a:xfrm>
          <a:prstGeom prst="rect">
            <a:avLst/>
          </a:prstGeom>
          <a:noFill/>
        </p:spPr>
        <p:txBody>
          <a:bodyPr wrap="square">
            <a:spAutoFit/>
          </a:bodyPr>
          <a:lstStyle/>
          <a:p>
            <a:pPr>
              <a:spcAft>
                <a:spcPts val="1200"/>
              </a:spcAft>
              <a:defRPr sz="1450" b="1">
                <a:solidFill>
                  <a:srgbClr val="29BA74"/>
                </a:solidFill>
              </a:defRPr>
            </a:pPr>
            <a:r>
              <a:t>產業共通目標：多模鍛壓與高產速</a:t>
            </a:r>
          </a:p>
          <a:p>
            <a:pPr>
              <a:spcAft>
                <a:spcPts val="800"/>
              </a:spcAft>
              <a:defRPr sz="1250">
                <a:solidFill>
                  <a:srgbClr val="1F2937"/>
                </a:solidFill>
              </a:defRPr>
            </a:pPr>
            <a:r>
              <a:t>• 皆追求每分鐘 150~300 顆之多模連續衝壓產能</a:t>
            </a:r>
          </a:p>
          <a:p>
            <a:pPr>
              <a:spcAft>
                <a:spcPts val="800"/>
              </a:spcAft>
              <a:defRPr sz="1250">
                <a:solidFill>
                  <a:srgbClr val="1F2937"/>
                </a:solidFill>
              </a:defRPr>
            </a:pPr>
            <a:r>
              <a:t>• 皆具備汽機車級精密公差與高剛性機身要求</a:t>
            </a:r>
          </a:p>
          <a:p>
            <a:pPr>
              <a:spcAft>
                <a:spcPts val="800"/>
              </a:spcAft>
              <a:defRPr sz="1250">
                <a:solidFill>
                  <a:srgbClr val="1F2937"/>
                </a:solidFill>
              </a:defRPr>
            </a:pPr>
            <a:r>
              <a:t>• 皆重視省電減碳與高自動化連續出料</a:t>
            </a:r>
          </a:p>
        </p:txBody>
      </p:sp>
      <p:sp>
        <p:nvSpPr>
          <p:cNvPr id="12" name="TextBox 11"/>
          <p:cNvSpPr txBox="1"/>
          <p:nvPr/>
        </p:nvSpPr>
        <p:spPr>
          <a:xfrm>
            <a:off x="8138159" y="2148840"/>
            <a:ext cx="3108960" cy="3749039"/>
          </a:xfrm>
          <a:prstGeom prst="rect">
            <a:avLst/>
          </a:prstGeom>
          <a:noFill/>
        </p:spPr>
        <p:txBody>
          <a:bodyPr wrap="square">
            <a:spAutoFit/>
          </a:bodyPr>
          <a:lstStyle/>
          <a:p>
            <a:pPr>
              <a:spcAft>
                <a:spcPts val="1200"/>
              </a:spcAft>
              <a:defRPr sz="1450" b="1">
                <a:solidFill>
                  <a:srgbClr val="177B57"/>
                </a:solidFill>
              </a:defRPr>
            </a:pPr>
            <a:r>
              <a:t>第二梯隊：三星螺絲成型機（朝璟精機）</a:t>
            </a:r>
          </a:p>
          <a:p>
            <a:pPr>
              <a:spcAft>
                <a:spcPts val="800"/>
              </a:spcAft>
              <a:defRPr sz="1250">
                <a:solidFill>
                  <a:srgbClr val="1F2937"/>
                </a:solidFill>
              </a:defRPr>
            </a:pPr>
            <a:r>
              <a:t>• 單台價格：350 萬～550 萬元（僅歐日機 1/3）</a:t>
            </a:r>
          </a:p>
          <a:p>
            <a:pPr>
              <a:spcAft>
                <a:spcPts val="800"/>
              </a:spcAft>
              <a:defRPr sz="1250">
                <a:solidFill>
                  <a:srgbClr val="1F2937"/>
                </a:solidFill>
              </a:defRPr>
            </a:pPr>
            <a:r>
              <a:t>• 交期：2～4 個月快速交機</a:t>
            </a:r>
          </a:p>
          <a:p>
            <a:pPr>
              <a:spcAft>
                <a:spcPts val="800"/>
              </a:spcAft>
              <a:defRPr sz="1250">
                <a:solidFill>
                  <a:srgbClr val="1F2937"/>
                </a:solidFill>
              </a:defRPr>
            </a:pPr>
            <a:r>
              <a:t>• 日本進口關鍵件＋台灣機體，妥善率達歐日機 85%</a:t>
            </a:r>
          </a:p>
          <a:p>
            <a:pPr>
              <a:spcAft>
                <a:spcPts val="800"/>
              </a:spcAft>
              <a:defRPr sz="1250">
                <a:solidFill>
                  <a:srgbClr val="1F2937"/>
                </a:solidFill>
              </a:defRPr>
            </a:pPr>
            <a:r>
              <a:t>• 高度適合中小型螺絲代工廠彈性擴產</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29BA74"/>
                </a:solidFill>
              </a:defRPr>
            </a:pPr>
            <a:r>
              <a:t>產品與市場矩陣  ｜  版型 8：BCG 矩陣  ｜  BCG (Boston Consulting Group)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B7280"/>
                </a:solidFill>
              </a:defRPr>
            </a:pPr>
            <a:r>
              <a:t>9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004F32"/>
                </a:solidFill>
              </a:defRPr>
            </a:pPr>
            <a:r>
              <a:t>以「客群市場 × 設備複雜度」拆解其策略重心：外銷長衝程為主要現金增長點</a:t>
            </a:r>
          </a:p>
          <a:p>
            <a:pPr>
              <a:defRPr sz="1250">
                <a:solidFill>
                  <a:srgbClr val="6B7280"/>
                </a:solidFill>
              </a:defRPr>
            </a:pPr>
            <a:r>
              <a:t>評估四大象限業務在營業額貢獻、毛利率表現與競爭烈度之策略意涵</a:t>
            </a:r>
          </a:p>
        </p:txBody>
      </p:sp>
      <p:sp>
        <p:nvSpPr>
          <p:cNvPr id="5" name="Rectangle 4"/>
          <p:cNvSpPr/>
          <p:nvPr/>
        </p:nvSpPr>
        <p:spPr>
          <a:xfrm>
            <a:off x="731520" y="1627632"/>
            <a:ext cx="10728655" cy="22860"/>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B7280"/>
                </a:solidFill>
              </a:defRPr>
            </a:pPr>
            <a:r>
              <a:t>資料來源：BCG 策略矩陣分析模型、三星螺絲成型機外銷布局實態</a:t>
            </a:r>
          </a:p>
        </p:txBody>
      </p:sp>
      <p:sp>
        <p:nvSpPr>
          <p:cNvPr id="7" name="Rectangle 6"/>
          <p:cNvSpPr/>
          <p:nvPr/>
        </p:nvSpPr>
        <p:spPr>
          <a:xfrm>
            <a:off x="731520" y="1874519"/>
            <a:ext cx="1371600" cy="3749039"/>
          </a:xfrm>
          <a:prstGeom prst="rect">
            <a:avLst/>
          </a:prstGeom>
          <a:solidFill>
            <a:srgbClr val="004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② 縱軸 Y</a:t>
            </a:r>
            <a:br/>
            <a:r>
              <a:t>設備複雜度</a:t>
            </a:r>
            <a:br/>
            <a:r>
              <a:t>（特殊長衝程成型機 ▲ / 標準通用型成型機 ▼）</a:t>
            </a:r>
          </a:p>
        </p:txBody>
      </p:sp>
      <p:sp>
        <p:nvSpPr>
          <p:cNvPr id="8" name="Rectangle 7"/>
          <p:cNvSpPr/>
          <p:nvPr/>
        </p:nvSpPr>
        <p:spPr>
          <a:xfrm>
            <a:off x="2286000" y="5760720"/>
            <a:ext cx="9052560" cy="438912"/>
          </a:xfrm>
          <a:prstGeom prst="rect">
            <a:avLst/>
          </a:prstGeom>
          <a:solidFill>
            <a:srgbClr val="004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 海外新興市場（印度/土耳其/巴西）        ② 橫軸 X（目標客群市場）        國內中小型扣件代工廠 ►</a:t>
            </a:r>
          </a:p>
        </p:txBody>
      </p:sp>
      <p:sp>
        <p:nvSpPr>
          <p:cNvPr id="9" name="Rounded Rectangle 8"/>
          <p:cNvSpPr/>
          <p:nvPr/>
        </p:nvSpPr>
        <p:spPr>
          <a:xfrm>
            <a:off x="2286000" y="1874519"/>
            <a:ext cx="4434840" cy="1810512"/>
          </a:xfrm>
          <a:prstGeom prst="roundRect">
            <a:avLst/>
          </a:prstGeom>
          <a:solidFill>
            <a:srgbClr val="DCFCE7"/>
          </a:solidFill>
          <a:ln w="25400">
            <a:solidFill>
              <a:srgbClr val="29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80" y="2011679"/>
            <a:ext cx="4069079" cy="1536192"/>
          </a:xfrm>
          <a:prstGeom prst="rect">
            <a:avLst/>
          </a:prstGeom>
          <a:noFill/>
        </p:spPr>
        <p:txBody>
          <a:bodyPr wrap="square">
            <a:spAutoFit/>
          </a:bodyPr>
          <a:lstStyle/>
          <a:p>
            <a:pPr>
              <a:spcAft>
                <a:spcPts val="600"/>
              </a:spcAft>
              <a:defRPr sz="1400" b="1">
                <a:solidFill>
                  <a:srgbClr val="004F32"/>
                </a:solidFill>
              </a:defRPr>
            </a:pPr>
            <a:r>
              <a:t>★ 策略明星（增長引擎）</a:t>
            </a:r>
          </a:p>
          <a:p>
            <a:pPr>
              <a:defRPr sz="1200">
                <a:solidFill>
                  <a:srgbClr val="1F2937"/>
                </a:solidFill>
              </a:defRPr>
            </a:pPr>
            <a:r>
              <a:t>【外銷 × 特殊長衝程機】印度、土耳其汽車零件本土化擴產急需高性價比設備，客單價高且毛利率最佳。</a:t>
            </a:r>
          </a:p>
        </p:txBody>
      </p:sp>
      <p:sp>
        <p:nvSpPr>
          <p:cNvPr id="11" name="Rounded Rectangle 10"/>
          <p:cNvSpPr/>
          <p:nvPr/>
        </p:nvSpPr>
        <p:spPr>
          <a:xfrm>
            <a:off x="6903720" y="1874519"/>
            <a:ext cx="4434840" cy="1810512"/>
          </a:xfrm>
          <a:prstGeom prst="round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2011679"/>
            <a:ext cx="4069079" cy="1536192"/>
          </a:xfrm>
          <a:prstGeom prst="rect">
            <a:avLst/>
          </a:prstGeom>
          <a:noFill/>
        </p:spPr>
        <p:txBody>
          <a:bodyPr wrap="square">
            <a:spAutoFit/>
          </a:bodyPr>
          <a:lstStyle/>
          <a:p>
            <a:pPr>
              <a:spcAft>
                <a:spcPts val="600"/>
              </a:spcAft>
              <a:defRPr sz="1400" b="1">
                <a:solidFill>
                  <a:srgbClr val="177B57"/>
                </a:solidFill>
              </a:defRPr>
            </a:pPr>
            <a:r>
              <a:t>◆ 現金母牛（穩固基石）</a:t>
            </a:r>
          </a:p>
          <a:p>
            <a:pPr>
              <a:defRPr sz="1200">
                <a:solidFill>
                  <a:srgbClr val="1F2937"/>
                </a:solidFill>
              </a:defRPr>
            </a:pPr>
            <a:r>
              <a:t>【內銷 × 特殊長衝程機】台灣中南部扣件代工廠升級轉型汽機車件，單台合約 415 萬提供穩定現金流。</a:t>
            </a:r>
          </a:p>
        </p:txBody>
      </p:sp>
      <p:sp>
        <p:nvSpPr>
          <p:cNvPr id="13" name="Rounded Rectangle 12"/>
          <p:cNvSpPr/>
          <p:nvPr/>
        </p:nvSpPr>
        <p:spPr>
          <a:xfrm>
            <a:off x="2286000" y="3822191"/>
            <a:ext cx="4434840" cy="1810512"/>
          </a:xfrm>
          <a:prstGeom prst="round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68880" y="3959352"/>
            <a:ext cx="4069079" cy="1536192"/>
          </a:xfrm>
          <a:prstGeom prst="rect">
            <a:avLst/>
          </a:prstGeom>
          <a:noFill/>
        </p:spPr>
        <p:txBody>
          <a:bodyPr wrap="square">
            <a:spAutoFit/>
          </a:bodyPr>
          <a:lstStyle/>
          <a:p>
            <a:pPr>
              <a:spcAft>
                <a:spcPts val="600"/>
              </a:spcAft>
              <a:defRPr sz="1400" b="1">
                <a:solidFill>
                  <a:srgbClr val="177B57"/>
                </a:solidFill>
              </a:defRPr>
            </a:pPr>
            <a:r>
              <a:t>▲ 銷量基石（能見度）</a:t>
            </a:r>
          </a:p>
          <a:p>
            <a:pPr>
              <a:defRPr sz="1200">
                <a:solidFill>
                  <a:srgbClr val="1F2937"/>
                </a:solidFill>
              </a:defRPr>
            </a:pPr>
            <a:r>
              <a:t>【外銷 × 標準通用成型機】標準機型出口搶佔新興工業國市佔率，累積海外裝機量與耗材備品需求。</a:t>
            </a:r>
          </a:p>
        </p:txBody>
      </p:sp>
      <p:sp>
        <p:nvSpPr>
          <p:cNvPr id="15" name="Rounded Rectangle 14"/>
          <p:cNvSpPr/>
          <p:nvPr/>
        </p:nvSpPr>
        <p:spPr>
          <a:xfrm>
            <a:off x="6903720" y="3822191"/>
            <a:ext cx="4434840" cy="1810512"/>
          </a:xfrm>
          <a:prstGeom prst="round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3959352"/>
            <a:ext cx="4069079" cy="1536192"/>
          </a:xfrm>
          <a:prstGeom prst="rect">
            <a:avLst/>
          </a:prstGeom>
          <a:noFill/>
        </p:spPr>
        <p:txBody>
          <a:bodyPr wrap="square">
            <a:spAutoFit/>
          </a:bodyPr>
          <a:lstStyle/>
          <a:p>
            <a:pPr>
              <a:spcAft>
                <a:spcPts val="600"/>
              </a:spcAft>
              <a:defRPr sz="1400" b="1">
                <a:solidFill>
                  <a:srgbClr val="177B57"/>
                </a:solidFill>
              </a:defRPr>
            </a:pPr>
            <a:r>
              <a:t>■ 成熟維保（長尾耗材）</a:t>
            </a:r>
          </a:p>
          <a:p>
            <a:pPr>
              <a:defRPr sz="1200">
                <a:solidFill>
                  <a:srgbClr val="1F2937"/>
                </a:solidFill>
              </a:defRPr>
            </a:pPr>
            <a:r>
              <a:t>【內銷 × 標準通用成型機】國內標準機市場飽和且競爭激烈，轉為提供舊機大修翻新與沖模牙板耗材收入。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A100FF"/>
                </a:solidFill>
              </a:defRPr>
            </a:pPr>
            <a:r>
              <a:t>業務作戰話術指南  ｜  版型 2：並列論法  ｜  Accenture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4748B"/>
                </a:solidFill>
              </a:defRPr>
            </a:pPr>
            <a:r>
              <a:t>10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111827"/>
                </a:solidFill>
              </a:defRPr>
            </a:pPr>
            <a:r>
              <a:t>前線業務對抗指南：拆解三大常見客戶異議與現場反擊金句</a:t>
            </a:r>
          </a:p>
          <a:p>
            <a:pPr>
              <a:defRPr sz="1250">
                <a:solidFill>
                  <a:srgbClr val="64748B"/>
                </a:solidFill>
              </a:defRPr>
            </a:pPr>
            <a:r>
              <a:t>針對客戶比價、主體混淆與交期壓制三大情境，提供行家級反擊論點</a:t>
            </a:r>
          </a:p>
        </p:txBody>
      </p:sp>
      <p:sp>
        <p:nvSpPr>
          <p:cNvPr id="5" name="Rectangle 4"/>
          <p:cNvSpPr/>
          <p:nvPr/>
        </p:nvSpPr>
        <p:spPr>
          <a:xfrm>
            <a:off x="731520" y="1627632"/>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4748B"/>
                </a:solidFill>
              </a:defRPr>
            </a:pPr>
            <a:r>
              <a:t>資料來源：業務實戰對話庫、高分院判決爭議焦點轉化</a:t>
            </a:r>
          </a:p>
        </p:txBody>
      </p:sp>
      <p:sp>
        <p:nvSpPr>
          <p:cNvPr id="7" name="Rounded Rectangle 6"/>
          <p:cNvSpPr/>
          <p:nvPr/>
        </p:nvSpPr>
        <p:spPr>
          <a:xfrm>
            <a:off x="731520" y="1874519"/>
            <a:ext cx="3393338" cy="4297680"/>
          </a:xfrm>
          <a:prstGeom prst="roundRect">
            <a:avLst/>
          </a:prstGeom>
          <a:solidFill>
            <a:srgbClr val="F9FAFB"/>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74519"/>
            <a:ext cx="3393338" cy="502920"/>
          </a:xfrm>
          <a:prstGeom prst="rect">
            <a:avLst/>
          </a:prstGeom>
          <a:solidFill>
            <a:srgbClr val="6B2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情境 1：客戶壓價比價</a:t>
            </a:r>
          </a:p>
        </p:txBody>
      </p:sp>
      <p:sp>
        <p:nvSpPr>
          <p:cNvPr id="9" name="TextBox 8"/>
          <p:cNvSpPr txBox="1"/>
          <p:nvPr/>
        </p:nvSpPr>
        <p:spPr>
          <a:xfrm>
            <a:off x="914400" y="2514600"/>
            <a:ext cx="3027578" cy="3520440"/>
          </a:xfrm>
          <a:prstGeom prst="rect">
            <a:avLst/>
          </a:prstGeom>
          <a:noFill/>
        </p:spPr>
        <p:txBody>
          <a:bodyPr wrap="square">
            <a:spAutoFit/>
          </a:bodyPr>
          <a:lstStyle/>
          <a:p>
            <a:pPr>
              <a:spcAft>
                <a:spcPts val="600"/>
              </a:spcAft>
              <a:defRPr sz="1250">
                <a:solidFill>
                  <a:srgbClr val="0F172A"/>
                </a:solidFill>
              </a:defRPr>
            </a:pPr>
            <a:r>
              <a:t>1. 【客戶說法】「三星螺絲成型機才 400 萬，你們怎麼這麼貴？」</a:t>
            </a:r>
          </a:p>
          <a:p>
            <a:pPr>
              <a:spcAft>
                <a:spcPts val="600"/>
              </a:spcAft>
              <a:defRPr sz="1250">
                <a:solidFill>
                  <a:srgbClr val="0F172A"/>
                </a:solidFill>
              </a:defRPr>
            </a:pPr>
            <a:r>
              <a:t>2. 【拆解邏輯】拆解「標準空機」與「專用模組」隱性加價成本</a:t>
            </a:r>
          </a:p>
          <a:p>
            <a:pPr>
              <a:spcAft>
                <a:spcPts val="600"/>
              </a:spcAft>
              <a:defRPr sz="1250">
                <a:solidFill>
                  <a:srgbClr val="0F172A"/>
                </a:solidFill>
              </a:defRPr>
            </a:pPr>
            <a:r>
              <a:t>3. 【反擊金句】「老闆，415 萬是基本款，汽車級長衝程專用翻夾組是外加的。更重要的是妥善率，停機一天損失遠大於機台差價。」</a:t>
            </a:r>
          </a:p>
        </p:txBody>
      </p:sp>
      <p:sp>
        <p:nvSpPr>
          <p:cNvPr id="10" name="Rounded Rectangle 9"/>
          <p:cNvSpPr/>
          <p:nvPr/>
        </p:nvSpPr>
        <p:spPr>
          <a:xfrm>
            <a:off x="4399178" y="1874519"/>
            <a:ext cx="3393338" cy="4297680"/>
          </a:xfrm>
          <a:prstGeom prst="roundRect">
            <a:avLst/>
          </a:prstGeom>
          <a:solidFill>
            <a:srgbClr val="F9FAFB"/>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1874519"/>
            <a:ext cx="3393338" cy="502920"/>
          </a:xfrm>
          <a:prstGeom prst="rect">
            <a:avLst/>
          </a:prstGeom>
          <a:solidFill>
            <a:srgbClr val="11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情境 2：主體混淆澄清</a:t>
            </a:r>
          </a:p>
        </p:txBody>
      </p:sp>
      <p:sp>
        <p:nvSpPr>
          <p:cNvPr id="12" name="TextBox 11"/>
          <p:cNvSpPr txBox="1"/>
          <p:nvPr/>
        </p:nvSpPr>
        <p:spPr>
          <a:xfrm>
            <a:off x="4582058" y="2514600"/>
            <a:ext cx="3027578" cy="3520440"/>
          </a:xfrm>
          <a:prstGeom prst="rect">
            <a:avLst/>
          </a:prstGeom>
          <a:noFill/>
        </p:spPr>
        <p:txBody>
          <a:bodyPr wrap="square">
            <a:spAutoFit/>
          </a:bodyPr>
          <a:lstStyle/>
          <a:p>
            <a:pPr>
              <a:spcAft>
                <a:spcPts val="600"/>
              </a:spcAft>
              <a:defRPr sz="1250">
                <a:solidFill>
                  <a:srgbClr val="0F172A"/>
                </a:solidFill>
              </a:defRPr>
            </a:pPr>
            <a:r>
              <a:t>1. 【客戶說法】「他們是不是上市那個三星螺絲（5007）？」</a:t>
            </a:r>
          </a:p>
          <a:p>
            <a:pPr>
              <a:spcAft>
                <a:spcPts val="600"/>
              </a:spcAft>
              <a:defRPr sz="1250">
                <a:solidFill>
                  <a:srgbClr val="0F172A"/>
                </a:solidFill>
              </a:defRPr>
            </a:pPr>
            <a:r>
              <a:t>2. 【拆解邏輯】破除借光效應，點出實際工廠與編制實況</a:t>
            </a:r>
          </a:p>
          <a:p>
            <a:pPr>
              <a:spcAft>
                <a:spcPts val="600"/>
              </a:spcAft>
              <a:defRPr sz="1250">
                <a:solidFill>
                  <a:srgbClr val="0F172A"/>
                </a:solidFill>
              </a:defRPr>
            </a:pPr>
            <a:r>
              <a:t>3. 【反擊金句】「老闆您誤會了，台南那是螺帽上市龍頭；這家是雲林斗南朝璟體系，全廠不到 20 人，跟上市公司完全無關。」</a:t>
            </a:r>
          </a:p>
        </p:txBody>
      </p:sp>
      <p:sp>
        <p:nvSpPr>
          <p:cNvPr id="13" name="Rounded Rectangle 12"/>
          <p:cNvSpPr/>
          <p:nvPr/>
        </p:nvSpPr>
        <p:spPr>
          <a:xfrm>
            <a:off x="8066836" y="1874519"/>
            <a:ext cx="3393338" cy="4297680"/>
          </a:xfrm>
          <a:prstGeom prst="roundRect">
            <a:avLst/>
          </a:prstGeom>
          <a:solidFill>
            <a:srgbClr val="F9FAFB"/>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6836" y="1874519"/>
            <a:ext cx="3393338" cy="502920"/>
          </a:xfrm>
          <a:prstGeom prst="rect">
            <a:avLst/>
          </a:prstGeom>
          <a:solidFill>
            <a:srgbClr val="6B21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情境 3：交期壓制化解</a:t>
            </a:r>
          </a:p>
        </p:txBody>
      </p:sp>
      <p:sp>
        <p:nvSpPr>
          <p:cNvPr id="15" name="TextBox 14"/>
          <p:cNvSpPr txBox="1"/>
          <p:nvPr/>
        </p:nvSpPr>
        <p:spPr>
          <a:xfrm>
            <a:off x="8249716" y="2514600"/>
            <a:ext cx="3027578" cy="3520440"/>
          </a:xfrm>
          <a:prstGeom prst="rect">
            <a:avLst/>
          </a:prstGeom>
          <a:noFill/>
        </p:spPr>
        <p:txBody>
          <a:bodyPr wrap="square">
            <a:spAutoFit/>
          </a:bodyPr>
          <a:lstStyle/>
          <a:p>
            <a:pPr>
              <a:spcAft>
                <a:spcPts val="600"/>
              </a:spcAft>
              <a:defRPr sz="1250">
                <a:solidFill>
                  <a:srgbClr val="0F172A"/>
                </a:solidFill>
              </a:defRPr>
            </a:pPr>
            <a:r>
              <a:t>1. 【客戶說法】「他們交期很快，兩個月就能裝機出料。」</a:t>
            </a:r>
          </a:p>
          <a:p>
            <a:pPr>
              <a:spcAft>
                <a:spcPts val="600"/>
              </a:spcAft>
              <a:defRPr sz="1250">
                <a:solidFill>
                  <a:srgbClr val="0F172A"/>
                </a:solidFill>
              </a:defRPr>
            </a:pPr>
            <a:r>
              <a:t>2. 【拆解邏輯】聚焦「驗收完整度」與「配件到位率」</a:t>
            </a:r>
          </a:p>
          <a:p>
            <a:pPr>
              <a:spcAft>
                <a:spcPts val="600"/>
              </a:spcAft>
              <a:defRPr sz="1250">
                <a:solidFill>
                  <a:srgbClr val="0F172A"/>
                </a:solidFill>
              </a:defRPr>
            </a:pPr>
            <a:r>
              <a:t>3. 【反擊金句】「快裝機常發生特殊模具配件未齊，最後卡在試車動彈不得。我們合約是全配件到位、打樣達標才結算尾款。」</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D97706"/>
                </a:solidFill>
              </a:defRPr>
            </a:pPr>
            <a:r>
              <a:t>供應鏈攻堅策略  ｜  版型 3：結合論法  ｜  McKinsey &amp; Company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4748B"/>
                </a:solidFill>
              </a:defRPr>
            </a:pPr>
            <a:r>
              <a:t>11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051C2C"/>
                </a:solidFill>
              </a:defRPr>
            </a:pPr>
            <a:r>
              <a:t>若向其推銷供應鏈產品：以「日本件平替」與「熱處理加工能量」為雙突破口</a:t>
            </a:r>
          </a:p>
          <a:p>
            <a:pPr>
              <a:defRPr sz="1250">
                <a:solidFill>
                  <a:srgbClr val="64748B"/>
                </a:solidFill>
              </a:defRPr>
            </a:pPr>
            <a:r>
              <a:t>切中其小於20人、重外包組裝之營運模式，以高精度高性價比供應鏈對接採購</a:t>
            </a:r>
          </a:p>
        </p:txBody>
      </p:sp>
      <p:sp>
        <p:nvSpPr>
          <p:cNvPr id="5" name="Rectangle 4"/>
          <p:cNvSpPr/>
          <p:nvPr/>
        </p:nvSpPr>
        <p:spPr>
          <a:xfrm>
            <a:off x="731520" y="1627632"/>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4748B"/>
                </a:solidFill>
              </a:defRPr>
            </a:pPr>
            <a:r>
              <a:t>資料來源：機械製造業 B2B 供應鏈攻堅模型、朝璟精機外包協作體系分析</a:t>
            </a:r>
          </a:p>
        </p:txBody>
      </p:sp>
      <p:sp>
        <p:nvSpPr>
          <p:cNvPr id="7" name="Rounded Rectangle 6"/>
          <p:cNvSpPr/>
          <p:nvPr/>
        </p:nvSpPr>
        <p:spPr>
          <a:xfrm>
            <a:off x="2011680" y="1783080"/>
            <a:ext cx="8138160" cy="731520"/>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掌握斗南廠依賴外包之結構特性，以「降低採購成本」與「紓解產能瓶頸」為提案主軸</a:t>
            </a:r>
          </a:p>
        </p:txBody>
      </p:sp>
      <p:sp>
        <p:nvSpPr>
          <p:cNvPr id="8" name="Rounded Rectangle 7"/>
          <p:cNvSpPr/>
          <p:nvPr/>
        </p:nvSpPr>
        <p:spPr>
          <a:xfrm>
            <a:off x="731520" y="2788920"/>
            <a:ext cx="5193792" cy="777240"/>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FFFFF"/>
                </a:solidFill>
              </a:defRPr>
            </a:pPr>
            <a:r>
              <a:t>突破口 1：日本進口件成本優化方案（平替軸承與合金鋼）</a:t>
            </a:r>
          </a:p>
        </p:txBody>
      </p:sp>
      <p:sp>
        <p:nvSpPr>
          <p:cNvPr id="9" name="Rounded Rectangle 8"/>
          <p:cNvSpPr/>
          <p:nvPr/>
        </p:nvSpPr>
        <p:spPr>
          <a:xfrm>
            <a:off x="731520" y="3840480"/>
            <a:ext cx="1639824" cy="2286000"/>
          </a:xfrm>
          <a:prstGeom prst="roundRect">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931920"/>
            <a:ext cx="1456944" cy="2103120"/>
          </a:xfrm>
          <a:prstGeom prst="rect">
            <a:avLst/>
          </a:prstGeom>
          <a:noFill/>
        </p:spPr>
        <p:txBody>
          <a:bodyPr wrap="square">
            <a:spAutoFit/>
          </a:bodyPr>
          <a:lstStyle/>
          <a:p>
            <a:pPr>
              <a:defRPr sz="1150">
                <a:solidFill>
                  <a:srgbClr val="1F2937"/>
                </a:solidFill>
              </a:defRPr>
            </a:pPr>
            <a:r>
              <a:t>鎖定其每台必備之高精密滾柱軸承，提供等規台德認證平替件，可降低其 15% 採購成本</a:t>
            </a:r>
          </a:p>
        </p:txBody>
      </p:sp>
      <p:sp>
        <p:nvSpPr>
          <p:cNvPr id="11" name="Rounded Rectangle 10"/>
          <p:cNvSpPr/>
          <p:nvPr/>
        </p:nvSpPr>
        <p:spPr>
          <a:xfrm>
            <a:off x="2508504" y="3840480"/>
            <a:ext cx="1639824" cy="2286000"/>
          </a:xfrm>
          <a:prstGeom prst="roundRect">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9944" y="3931920"/>
            <a:ext cx="1456944" cy="2103120"/>
          </a:xfrm>
          <a:prstGeom prst="rect">
            <a:avLst/>
          </a:prstGeom>
          <a:noFill/>
        </p:spPr>
        <p:txBody>
          <a:bodyPr wrap="square">
            <a:spAutoFit/>
          </a:bodyPr>
          <a:lstStyle/>
          <a:p>
            <a:pPr>
              <a:defRPr sz="1150">
                <a:solidFill>
                  <a:srgbClr val="1F2937"/>
                </a:solidFill>
              </a:defRPr>
            </a:pPr>
            <a:r>
              <a:t>提供特殊耐磨模具合金鋼與客製切斷裁切服務，縮短其備料等待期</a:t>
            </a:r>
          </a:p>
        </p:txBody>
      </p:sp>
      <p:sp>
        <p:nvSpPr>
          <p:cNvPr id="13" name="Rounded Rectangle 12"/>
          <p:cNvSpPr/>
          <p:nvPr/>
        </p:nvSpPr>
        <p:spPr>
          <a:xfrm>
            <a:off x="4285488" y="3840480"/>
            <a:ext cx="1639824" cy="2286000"/>
          </a:xfrm>
          <a:prstGeom prst="roundRect">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6928" y="3931920"/>
            <a:ext cx="1456944" cy="2103120"/>
          </a:xfrm>
          <a:prstGeom prst="rect">
            <a:avLst/>
          </a:prstGeom>
          <a:noFill/>
        </p:spPr>
        <p:txBody>
          <a:bodyPr wrap="square">
            <a:spAutoFit/>
          </a:bodyPr>
          <a:lstStyle/>
          <a:p>
            <a:pPr>
              <a:defRPr sz="1150">
                <a:solidFill>
                  <a:srgbClr val="1F2937"/>
                </a:solidFill>
              </a:defRPr>
            </a:pPr>
            <a:r>
              <a:t>提供寄銷（VMI）庫存管理模式，協助其緩解小廠營運資金壓力</a:t>
            </a:r>
          </a:p>
        </p:txBody>
      </p:sp>
      <p:sp>
        <p:nvSpPr>
          <p:cNvPr id="15" name="Rounded Rectangle 14"/>
          <p:cNvSpPr/>
          <p:nvPr/>
        </p:nvSpPr>
        <p:spPr>
          <a:xfrm>
            <a:off x="6263640" y="2788920"/>
            <a:ext cx="5193792" cy="777240"/>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FFFFF"/>
                </a:solidFill>
              </a:defRPr>
            </a:pPr>
            <a:r>
              <a:t>突破口 2：高精密導軌加工與高週波熱處理能量</a:t>
            </a:r>
          </a:p>
        </p:txBody>
      </p:sp>
      <p:sp>
        <p:nvSpPr>
          <p:cNvPr id="16" name="Rounded Rectangle 15"/>
          <p:cNvSpPr/>
          <p:nvPr/>
        </p:nvSpPr>
        <p:spPr>
          <a:xfrm>
            <a:off x="6263640" y="3840480"/>
            <a:ext cx="1639824" cy="2286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79" y="3931920"/>
            <a:ext cx="1456944" cy="2103120"/>
          </a:xfrm>
          <a:prstGeom prst="rect">
            <a:avLst/>
          </a:prstGeom>
          <a:noFill/>
        </p:spPr>
        <p:txBody>
          <a:bodyPr wrap="square">
            <a:spAutoFit/>
          </a:bodyPr>
          <a:lstStyle/>
          <a:p>
            <a:pPr>
              <a:defRPr sz="1150">
                <a:solidFill>
                  <a:srgbClr val="1F2937"/>
                </a:solidFill>
              </a:defRPr>
            </a:pPr>
            <a:r>
              <a:t>提供大型機身龍門銑削外協產能，解決斗南廠自製機加工產能不足瓶頸</a:t>
            </a:r>
          </a:p>
        </p:txBody>
      </p:sp>
      <p:sp>
        <p:nvSpPr>
          <p:cNvPr id="18" name="Rounded Rectangle 17"/>
          <p:cNvSpPr/>
          <p:nvPr/>
        </p:nvSpPr>
        <p:spPr>
          <a:xfrm>
            <a:off x="8040624" y="3840480"/>
            <a:ext cx="1639824" cy="2286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2063" y="3931920"/>
            <a:ext cx="1456944" cy="2103120"/>
          </a:xfrm>
          <a:prstGeom prst="rect">
            <a:avLst/>
          </a:prstGeom>
          <a:noFill/>
        </p:spPr>
        <p:txBody>
          <a:bodyPr wrap="square">
            <a:spAutoFit/>
          </a:bodyPr>
          <a:lstStyle/>
          <a:p>
            <a:pPr>
              <a:defRPr sz="1150">
                <a:solidFill>
                  <a:srgbClr val="1F2937"/>
                </a:solidFill>
              </a:defRPr>
            </a:pPr>
            <a:r>
              <a:t>協助建立關鍵曲軸與滑塊熱處理金相檢驗報告，提升其整機外銷歐美認證資格</a:t>
            </a:r>
          </a:p>
        </p:txBody>
      </p:sp>
      <p:sp>
        <p:nvSpPr>
          <p:cNvPr id="20" name="Rounded Rectangle 19"/>
          <p:cNvSpPr/>
          <p:nvPr/>
        </p:nvSpPr>
        <p:spPr>
          <a:xfrm>
            <a:off x="9817608" y="3840480"/>
            <a:ext cx="1639824" cy="2286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09048" y="3931920"/>
            <a:ext cx="1456944" cy="2103120"/>
          </a:xfrm>
          <a:prstGeom prst="rect">
            <a:avLst/>
          </a:prstGeom>
          <a:noFill/>
        </p:spPr>
        <p:txBody>
          <a:bodyPr wrap="square">
            <a:spAutoFit/>
          </a:bodyPr>
          <a:lstStyle/>
          <a:p>
            <a:pPr>
              <a:defRPr sz="1150">
                <a:solidFill>
                  <a:srgbClr val="1F2937"/>
                </a:solidFill>
              </a:defRPr>
            </a:pPr>
            <a:r>
              <a:t>以在地快速交期與穩定品管，成為其外包體系中的一級戰略合作夥伴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320040"/>
          </a:xfrm>
          <a:prstGeom prst="rect">
            <a:avLst/>
          </a:prstGeom>
          <a:noFill/>
        </p:spPr>
        <p:txBody>
          <a:bodyPr wrap="none">
            <a:spAutoFit/>
          </a:bodyPr>
          <a:lstStyle/>
          <a:p>
            <a:pPr>
              <a:defRPr sz="1050" b="1">
                <a:solidFill>
                  <a:srgbClr val="D97706"/>
                </a:solidFill>
              </a:defRPr>
            </a:pPr>
            <a:r>
              <a:t>總結行動綱領  ｜  版型 3：結合論法  ｜  McKinsey &amp; Company Style</a:t>
            </a:r>
          </a:p>
        </p:txBody>
      </p:sp>
      <p:sp>
        <p:nvSpPr>
          <p:cNvPr id="3" name="TextBox 2"/>
          <p:cNvSpPr txBox="1"/>
          <p:nvPr/>
        </p:nvSpPr>
        <p:spPr>
          <a:xfrm>
            <a:off x="10332720" y="365760"/>
            <a:ext cx="1097280" cy="320040"/>
          </a:xfrm>
          <a:prstGeom prst="rect">
            <a:avLst/>
          </a:prstGeom>
          <a:noFill/>
        </p:spPr>
        <p:txBody>
          <a:bodyPr wrap="none">
            <a:spAutoFit/>
          </a:bodyPr>
          <a:lstStyle/>
          <a:p>
            <a:pPr algn="r">
              <a:defRPr sz="1050">
                <a:solidFill>
                  <a:srgbClr val="64748B"/>
                </a:solidFill>
              </a:defRPr>
            </a:pPr>
            <a:r>
              <a:t>12 / 12</a:t>
            </a:r>
          </a:p>
        </p:txBody>
      </p:sp>
      <p:sp>
        <p:nvSpPr>
          <p:cNvPr id="4" name="TextBox 3"/>
          <p:cNvSpPr txBox="1"/>
          <p:nvPr/>
        </p:nvSpPr>
        <p:spPr>
          <a:xfrm>
            <a:off x="731520" y="685800"/>
            <a:ext cx="10698480" cy="868680"/>
          </a:xfrm>
          <a:prstGeom prst="rect">
            <a:avLst/>
          </a:prstGeom>
          <a:noFill/>
        </p:spPr>
        <p:txBody>
          <a:bodyPr wrap="square">
            <a:spAutoFit/>
          </a:bodyPr>
          <a:lstStyle/>
          <a:p>
            <a:pPr>
              <a:defRPr sz="2100" b="1">
                <a:solidFill>
                  <a:srgbClr val="051C2C"/>
                </a:solidFill>
              </a:defRPr>
            </a:pPr>
            <a:r>
              <a:t>業務團隊行動綱領：落實「主體認知、合約嚴謹、供應鏈穿透」三大戰役</a:t>
            </a:r>
          </a:p>
          <a:p>
            <a:pPr>
              <a:defRPr sz="1250">
                <a:solidFill>
                  <a:srgbClr val="64748B"/>
                </a:solidFill>
              </a:defRPr>
            </a:pPr>
            <a:r>
              <a:t>轉化情資為實質業績，於市場競爭、客戶開發與供應鏈對接中取得全面主動</a:t>
            </a:r>
          </a:p>
        </p:txBody>
      </p:sp>
      <p:sp>
        <p:nvSpPr>
          <p:cNvPr id="5" name="Rectangle 4"/>
          <p:cNvSpPr/>
          <p:nvPr/>
        </p:nvSpPr>
        <p:spPr>
          <a:xfrm>
            <a:off x="731520" y="1627632"/>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55080"/>
            <a:ext cx="10698480" cy="320040"/>
          </a:xfrm>
          <a:prstGeom prst="rect">
            <a:avLst/>
          </a:prstGeom>
          <a:noFill/>
        </p:spPr>
        <p:txBody>
          <a:bodyPr wrap="none">
            <a:spAutoFit/>
          </a:bodyPr>
          <a:lstStyle/>
          <a:p>
            <a:pPr>
              <a:defRPr sz="950">
                <a:solidFill>
                  <a:srgbClr val="64748B"/>
                </a:solidFill>
              </a:defRPr>
            </a:pPr>
            <a:r>
              <a:t>資料來源：4.1.3 業務開發策略白皮書 ｜ 業務戰情知識庫門戶專報</a:t>
            </a:r>
          </a:p>
        </p:txBody>
      </p:sp>
      <p:sp>
        <p:nvSpPr>
          <p:cNvPr id="7" name="Rounded Rectangle 6"/>
          <p:cNvSpPr/>
          <p:nvPr/>
        </p:nvSpPr>
        <p:spPr>
          <a:xfrm>
            <a:off x="2011680" y="1783080"/>
            <a:ext cx="8138160" cy="731520"/>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情資變現三步走：破除品牌迷思、建立 TCO 比價工具、對接斗南廠外包鏈</a:t>
            </a:r>
          </a:p>
        </p:txBody>
      </p:sp>
      <p:sp>
        <p:nvSpPr>
          <p:cNvPr id="8" name="Rounded Rectangle 7"/>
          <p:cNvSpPr/>
          <p:nvPr/>
        </p:nvSpPr>
        <p:spPr>
          <a:xfrm>
            <a:off x="731520" y="2788920"/>
            <a:ext cx="5193792" cy="777240"/>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FFFFF"/>
                </a:solidFill>
              </a:defRPr>
            </a:pPr>
            <a:r>
              <a:t>戰線 A：客戶端——建立 5 年 TCO 總持有成本試算模型</a:t>
            </a:r>
          </a:p>
        </p:txBody>
      </p:sp>
      <p:sp>
        <p:nvSpPr>
          <p:cNvPr id="9" name="Rounded Rectangle 8"/>
          <p:cNvSpPr/>
          <p:nvPr/>
        </p:nvSpPr>
        <p:spPr>
          <a:xfrm>
            <a:off x="731520" y="3840480"/>
            <a:ext cx="1639824" cy="2286000"/>
          </a:xfrm>
          <a:prstGeom prst="roundRect">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931920"/>
            <a:ext cx="1456944" cy="2103120"/>
          </a:xfrm>
          <a:prstGeom prst="rect">
            <a:avLst/>
          </a:prstGeom>
          <a:noFill/>
        </p:spPr>
        <p:txBody>
          <a:bodyPr wrap="square">
            <a:spAutoFit/>
          </a:bodyPr>
          <a:lstStyle/>
          <a:p>
            <a:pPr>
              <a:defRPr sz="1150">
                <a:solidFill>
                  <a:srgbClr val="1F2937"/>
                </a:solidFill>
              </a:defRPr>
            </a:pPr>
            <a:r>
              <a:t>拜訪螺絲廠時主動出示「全配件驗收實質合約」，凸顯我方驗收合規保障</a:t>
            </a:r>
          </a:p>
        </p:txBody>
      </p:sp>
      <p:sp>
        <p:nvSpPr>
          <p:cNvPr id="11" name="Rounded Rectangle 10"/>
          <p:cNvSpPr/>
          <p:nvPr/>
        </p:nvSpPr>
        <p:spPr>
          <a:xfrm>
            <a:off x="2508504" y="3840480"/>
            <a:ext cx="1639824" cy="2286000"/>
          </a:xfrm>
          <a:prstGeom prst="roundRect">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9944" y="3931920"/>
            <a:ext cx="1456944" cy="2103120"/>
          </a:xfrm>
          <a:prstGeom prst="rect">
            <a:avLst/>
          </a:prstGeom>
          <a:noFill/>
        </p:spPr>
        <p:txBody>
          <a:bodyPr wrap="square">
            <a:spAutoFit/>
          </a:bodyPr>
          <a:lstStyle/>
          <a:p>
            <a:pPr>
              <a:defRPr sz="1150">
                <a:solidFill>
                  <a:srgbClr val="1F2937"/>
                </a:solidFill>
              </a:defRPr>
            </a:pPr>
            <a:r>
              <a:t>以停機一天損失（約 5~10 萬元）對照原廠售後團隊規模，凸顯我方服務能量</a:t>
            </a:r>
          </a:p>
        </p:txBody>
      </p:sp>
      <p:sp>
        <p:nvSpPr>
          <p:cNvPr id="13" name="Rounded Rectangle 12"/>
          <p:cNvSpPr/>
          <p:nvPr/>
        </p:nvSpPr>
        <p:spPr>
          <a:xfrm>
            <a:off x="4285488" y="3840480"/>
            <a:ext cx="1639824" cy="2286000"/>
          </a:xfrm>
          <a:prstGeom prst="roundRect">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6928" y="3931920"/>
            <a:ext cx="1456944" cy="2103120"/>
          </a:xfrm>
          <a:prstGeom prst="rect">
            <a:avLst/>
          </a:prstGeom>
          <a:noFill/>
        </p:spPr>
        <p:txBody>
          <a:bodyPr wrap="square">
            <a:spAutoFit/>
          </a:bodyPr>
          <a:lstStyle/>
          <a:p>
            <a:pPr>
              <a:defRPr sz="1150">
                <a:solidFill>
                  <a:srgbClr val="1F2937"/>
                </a:solidFill>
              </a:defRPr>
            </a:pPr>
            <a:r>
              <a:t>協助客戶精算 5 年電費、模具損耗與維修費用，瓦解對手初始購機價格優勢</a:t>
            </a:r>
          </a:p>
        </p:txBody>
      </p:sp>
      <p:sp>
        <p:nvSpPr>
          <p:cNvPr id="15" name="Rounded Rectangle 14"/>
          <p:cNvSpPr/>
          <p:nvPr/>
        </p:nvSpPr>
        <p:spPr>
          <a:xfrm>
            <a:off x="6263640" y="2788920"/>
            <a:ext cx="5193792" cy="777240"/>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FFFFF"/>
                </a:solidFill>
              </a:defRPr>
            </a:pPr>
            <a:r>
              <a:t>戰線 B：供應鏈端——直接對接斗南廠關鍵決策者（廖冠傑／廖彥榮）</a:t>
            </a:r>
          </a:p>
        </p:txBody>
      </p:sp>
      <p:sp>
        <p:nvSpPr>
          <p:cNvPr id="16" name="Rounded Rectangle 15"/>
          <p:cNvSpPr/>
          <p:nvPr/>
        </p:nvSpPr>
        <p:spPr>
          <a:xfrm>
            <a:off x="6263640" y="3840480"/>
            <a:ext cx="1639824" cy="2286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79" y="3931920"/>
            <a:ext cx="1456944" cy="2103120"/>
          </a:xfrm>
          <a:prstGeom prst="rect">
            <a:avLst/>
          </a:prstGeom>
          <a:noFill/>
        </p:spPr>
        <p:txBody>
          <a:bodyPr wrap="square">
            <a:spAutoFit/>
          </a:bodyPr>
          <a:lstStyle/>
          <a:p>
            <a:pPr>
              <a:defRPr sz="1150">
                <a:solidFill>
                  <a:srgbClr val="1F2937"/>
                </a:solidFill>
              </a:defRPr>
            </a:pPr>
            <a:r>
              <a:t>針對進口軸承與特殊鋼材提出樣品測試與成本節省對照方案</a:t>
            </a:r>
          </a:p>
        </p:txBody>
      </p:sp>
      <p:sp>
        <p:nvSpPr>
          <p:cNvPr id="18" name="Rounded Rectangle 17"/>
          <p:cNvSpPr/>
          <p:nvPr/>
        </p:nvSpPr>
        <p:spPr>
          <a:xfrm>
            <a:off x="8040624" y="3840480"/>
            <a:ext cx="1639824" cy="2286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2063" y="3931920"/>
            <a:ext cx="1456944" cy="2103120"/>
          </a:xfrm>
          <a:prstGeom prst="rect">
            <a:avLst/>
          </a:prstGeom>
          <a:noFill/>
        </p:spPr>
        <p:txBody>
          <a:bodyPr wrap="square">
            <a:spAutoFit/>
          </a:bodyPr>
          <a:lstStyle/>
          <a:p>
            <a:pPr>
              <a:defRPr sz="1150">
                <a:solidFill>
                  <a:srgbClr val="1F2937"/>
                </a:solidFill>
              </a:defRPr>
            </a:pPr>
            <a:r>
              <a:t>建立專屬技術對接窗口，主動參與其新一代節能抗震成型機之先期研發</a:t>
            </a:r>
          </a:p>
        </p:txBody>
      </p:sp>
      <p:sp>
        <p:nvSpPr>
          <p:cNvPr id="20" name="Rounded Rectangle 19"/>
          <p:cNvSpPr/>
          <p:nvPr/>
        </p:nvSpPr>
        <p:spPr>
          <a:xfrm>
            <a:off x="9817608" y="3840480"/>
            <a:ext cx="1639824" cy="2286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09048" y="3931920"/>
            <a:ext cx="1456944" cy="2103120"/>
          </a:xfrm>
          <a:prstGeom prst="rect">
            <a:avLst/>
          </a:prstGeom>
          <a:noFill/>
        </p:spPr>
        <p:txBody>
          <a:bodyPr wrap="square">
            <a:spAutoFit/>
          </a:bodyPr>
          <a:lstStyle/>
          <a:p>
            <a:pPr>
              <a:defRPr sz="1150">
                <a:solidFill>
                  <a:srgbClr val="1F2937"/>
                </a:solidFill>
              </a:defRPr>
            </a:pPr>
            <a:r>
              <a:t>將本份調研納入業務知識庫，持續追蹤其海外參展與專利更新動態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