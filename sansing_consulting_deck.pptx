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【採用版型與風格】cover ｜ McKinsey &amp; Company</a:t>
            </a:r>
          </a:p>
          <a:p>
            <a:r>
              <a:t>① 本頁結論：本報告為針對業務開發對象「三星螺絲成型機有限公司（朝璟精機）」之客觀盡職調查，聚焦法人主體、營運體質、財務定價、專利資產、ESG綠電及法律風險。</a:t>
            </a:r>
          </a:p>
          <a:p>
            <a:r>
              <a:t>② 補充說明：透過交叉比對公開司法判決、專利公報與產業訪談，排除主觀業務行銷視角，還原其真實營運實態與商務信用等級。</a:t>
            </a:r>
          </a:p>
          <a:p>
            <a:r>
              <a:t>③ 下一頁轉場：首先檢視其在資本市場與設備製造領域之核心營運規模與客單價實力。</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 BCG (Boston Consulting Group)</a:t>
            </a:r>
          </a:p>
          <a:p>
            <a:r>
              <a:t>① 本頁結論：415 萬元的實際成交價證明該公司具備穩健的資本財溢價能力，並非低價薄利多銷廠。</a:t>
            </a:r>
          </a:p>
          <a:p>
            <a:r>
              <a:t>② 補充說明：多沖程特殊長衝程成型機具備技術門檻，使其能維持 400 萬以上的資本財單價。</a:t>
            </a:r>
          </a:p>
          <a:p>
            <a:r>
              <a:t>③ 下一頁轉場：進一步檢視支撐此一定價能力的營運架構與供應鏈體質。</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 Accenture</a:t>
            </a:r>
          </a:p>
          <a:p>
            <a:r>
              <a:t>① 本頁結論：專利防禦、進口關鍵件混血與極小團隊編制，構成其精準生存三角。</a:t>
            </a:r>
          </a:p>
          <a:p>
            <a:r>
              <a:t>② 補充說明：這種輕資產、重調校的組裝模式，大幅抵禦了機械業景氣循環的波動風險。</a:t>
            </a:r>
          </a:p>
          <a:p>
            <a:r>
              <a:t>③ 下一頁轉場：在法理主體與徵信查核上，必須明確釐清其與上市大廠之界限。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 McKinsey &amp; Company</a:t>
            </a:r>
          </a:p>
          <a:p>
            <a:r>
              <a:t>① 本頁結論：兩家公司毫無股權與從屬關係，盡職調查確認其為獨立中小企業。</a:t>
            </a:r>
          </a:p>
          <a:p>
            <a:r>
              <a:t>② 補充說明：對外接洽時不得將其與千人上市大廠之資本與售後保證能力混為一談。</a:t>
            </a:r>
          </a:p>
          <a:p>
            <a:r>
              <a:t>③ 下一頁轉場：接著檢視其製造與交付流程的端到端價值鏈運作實務。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5：麥肯錫論法 ｜ McKinsey &amp; Company</a:t>
            </a:r>
          </a:p>
          <a:p>
            <a:r>
              <a:t>① 本頁結論：其利潤主要鎖在自製調校與專利模組，但交機驗收是其履約管理的最大考驗。</a:t>
            </a:r>
          </a:p>
          <a:p>
            <a:r>
              <a:t>② 補充說明：司法判決顯示，一旦專用模具配件無法同步交付，會面臨高額的買賣價金爭議風險。</a:t>
            </a:r>
          </a:p>
          <a:p>
            <a:r>
              <a:t>③ 下一頁轉場：接下來，我們透過連鎖論法還原一台成型機從簽約到結案的完整金流歷程。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 Accenture</a:t>
            </a:r>
          </a:p>
          <a:p>
            <a:r>
              <a:t>① 本頁結論：四階段金流模式確保廠商在組裝前取得週轉金，降低資金積壓風險。</a:t>
            </a:r>
          </a:p>
          <a:p>
            <a:r>
              <a:t>② 補充說明：此種專案制付款是專用機械設備的標準行規，掌握了訂金即可啟動進料。</a:t>
            </a:r>
          </a:p>
          <a:p>
            <a:r>
              <a:t>③ 下一頁轉場：在技術資產方面，其核心競爭力建立在兩項相輔相成的專利機構上。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 BCG (Boston Consulting Group)</a:t>
            </a:r>
          </a:p>
          <a:p>
            <a:r>
              <a:t>① 本頁結論：翻轉夾持與抑震平衡缺一不可，兩者共同奠定了其打特殊長螺栓的工藝基礎。</a:t>
            </a:r>
          </a:p>
          <a:p>
            <a:r>
              <a:t>② 補充說明：若只有夾持而無抑震，高速衝壓會使模具迅速磨損甚至崩裂；兩者結合才能創造設備價值。</a:t>
            </a:r>
          </a:p>
          <a:p>
            <a:r>
              <a:t>③ 下一頁轉場：進一步對照全球市場競爭格局，釐清其所在的市場生態位。</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7：比較論法 ｜ BCG (Boston Consulting Group)</a:t>
            </a:r>
          </a:p>
          <a:p>
            <a:r>
              <a:t>① 本頁結論：三星成型機是歐日機的「高性價比平替方案」，讓預算有限的代工廠具備接單能力。</a:t>
            </a:r>
          </a:p>
          <a:p>
            <a:r>
              <a:t>② 補充說明：這種定位避開了與歐日巨頭的正面衝突，又藉由品質大幅拉開與中國大陸廉價機的差距。</a:t>
            </a:r>
          </a:p>
          <a:p>
            <a:r>
              <a:t>③ 下一頁轉場：在產品組合與市場地理分佈上，展現了鮮明的 BCG 矩陣特徵。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矩陣 ｜ BCG (Boston Consulting Group)</a:t>
            </a:r>
          </a:p>
          <a:p>
            <a:r>
              <a:t>① 本頁結論：外銷新興市場的特殊長衝程機種是其未來最核心的利潤成長引擎。</a:t>
            </a:r>
          </a:p>
          <a:p>
            <a:r>
              <a:t>② 補充說明：國內市場雖然穩健但已進入成熟期，海外新興工業國的汽機車零組件自製化浪潮才是其最大出海口。</a:t>
            </a:r>
          </a:p>
          <a:p>
            <a:r>
              <a:t>③ 下一頁轉場：特別針對現代供應鏈核心的 ESG 與綠電轉型維度進行專題盡職調查。</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 McKinsey &amp; Company</a:t>
            </a:r>
          </a:p>
          <a:p>
            <a:r>
              <a:t>① 本頁結論：其在產品端具備明確的節電賣點，但自身製造端缺乏綠電憑證與 ESG 揭露資產。</a:t>
            </a:r>
          </a:p>
          <a:p>
            <a:r>
              <a:t>② 補充說明：扣件廠因應 CBAM 需要買省手機台，這讓三星成型機享有節能紅利；但其自身工廠仍屬傳統型態，未做綠電佈局。</a:t>
            </a:r>
          </a:p>
          <a:p>
            <a:r>
              <a:t>③ 下一頁轉場：最後檢視其在司法訴訟與商業契約履行上的歷史風險紀錄。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 Accenture</a:t>
            </a:r>
          </a:p>
          <a:p>
            <a:r>
              <a:t>① 本頁結論：司法判決證明其機台本體質量過關，但配件交付時程曾導致商務摩擦。</a:t>
            </a:r>
          </a:p>
          <a:p>
            <a:r>
              <a:t>② 補充說明：法院雖然判決其勝訴（駁回買方解約請求），但凸顯出小廠客製化管理上的人手不足風險。</a:t>
            </a:r>
          </a:p>
          <a:p>
            <a:r>
              <a:t>③ 下一頁轉場：綜合上述六大維度，得出本案的盡職調查總結結論與合作建議。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3：結合論法 ｜ McKinsey &amp; Company</a:t>
            </a:r>
          </a:p>
          <a:p>
            <a:r>
              <a:t>① 本頁結論：整體評估三星螺絲成型機是一家體質精幹的中型專用機製造商，合作具備良好商業價值。</a:t>
            </a:r>
          </a:p>
          <a:p>
            <a:r>
              <a:t>② 補充說明：在契約設計上做好驗收細化與能耗合規，即可充分利用其性價比優勢並規避履約爭議。</a:t>
            </a:r>
          </a:p>
          <a:p>
            <a:r>
              <a:t>③ 下一頁轉場：感謝各位，完整數據與分析請參見業務開發盡職調查門戶。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1463040"/>
            <a:ext cx="16459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058400" cy="457200"/>
          </a:xfrm>
          <a:prstGeom prst="rect">
            <a:avLst/>
          </a:prstGeom>
          <a:noFill/>
        </p:spPr>
        <p:txBody>
          <a:bodyPr wrap="none">
            <a:spAutoFit/>
          </a:bodyPr>
          <a:lstStyle/>
          <a:p>
            <a:pPr>
              <a:defRPr sz="1300" b="1">
                <a:solidFill>
                  <a:srgbClr val="D97706"/>
                </a:solidFill>
              </a:defRPr>
            </a:pPr>
            <a:r>
              <a:t>4.1.3 業務開發・企業徵信與營運盡職調查報告 (DUE DILIGENCE REPORT)</a:t>
            </a:r>
          </a:p>
        </p:txBody>
      </p:sp>
      <p:sp>
        <p:nvSpPr>
          <p:cNvPr id="5" name="TextBox 4"/>
          <p:cNvSpPr txBox="1"/>
          <p:nvPr/>
        </p:nvSpPr>
        <p:spPr>
          <a:xfrm>
            <a:off x="1005840" y="2194560"/>
            <a:ext cx="10058400" cy="1463040"/>
          </a:xfrm>
          <a:prstGeom prst="rect">
            <a:avLst/>
          </a:prstGeom>
          <a:noFill/>
        </p:spPr>
        <p:txBody>
          <a:bodyPr wrap="square">
            <a:spAutoFit/>
          </a:bodyPr>
          <a:lstStyle/>
          <a:p>
            <a:pPr>
              <a:defRPr sz="3400" b="1">
                <a:solidFill>
                  <a:srgbClr val="FFFFFF"/>
                </a:solidFill>
              </a:defRPr>
            </a:pPr>
            <a:r>
              <a:t>業務開發對象盡職調查：三星螺絲成型機有限公司（朝璟精機）</a:t>
            </a:r>
          </a:p>
        </p:txBody>
      </p:sp>
      <p:sp>
        <p:nvSpPr>
          <p:cNvPr id="6" name="TextBox 5"/>
          <p:cNvSpPr txBox="1"/>
          <p:nvPr/>
        </p:nvSpPr>
        <p:spPr>
          <a:xfrm>
            <a:off x="1005840" y="3840480"/>
            <a:ext cx="10058400" cy="1097280"/>
          </a:xfrm>
          <a:prstGeom prst="rect">
            <a:avLst/>
          </a:prstGeom>
          <a:noFill/>
        </p:spPr>
        <p:txBody>
          <a:bodyPr wrap="square">
            <a:spAutoFit/>
          </a:bodyPr>
          <a:lstStyle/>
          <a:p>
            <a:pPr>
              <a:defRPr sz="1800">
                <a:solidFill>
                  <a:srgbClr val="E2E8F0"/>
                </a:solidFill>
              </a:defRPr>
            </a:pPr>
            <a:r>
              <a:t>核心主張：避開歐日千萬機台與大陸低價紅海，以「極簡20人編制＋日本核心件＋關鍵專利」立足中階利基，惟面臨 ESG 綠電溯源與交機驗收之履約風險</a:t>
            </a:r>
          </a:p>
        </p:txBody>
      </p:sp>
      <p:sp>
        <p:nvSpPr>
          <p:cNvPr id="7" name="TextBox 6"/>
          <p:cNvSpPr txBox="1"/>
          <p:nvPr/>
        </p:nvSpPr>
        <p:spPr>
          <a:xfrm>
            <a:off x="1005840" y="5394960"/>
            <a:ext cx="10058400" cy="457200"/>
          </a:xfrm>
          <a:prstGeom prst="rect">
            <a:avLst/>
          </a:prstGeom>
          <a:noFill/>
        </p:spPr>
        <p:txBody>
          <a:bodyPr wrap="none">
            <a:spAutoFit/>
          </a:bodyPr>
          <a:lstStyle/>
          <a:p>
            <a:pPr>
              <a:defRPr sz="1250">
                <a:solidFill>
                  <a:srgbClr val="BAC4D2"/>
                </a:solidFill>
              </a:defRPr>
            </a:pPr>
            <a:r>
              <a:t>調查依據：經濟部商工登記・高院 114上149 判決書・智財局專利公報・Fastener World 專訪・歐盟 CBAM 扣件能耗標準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資本與定價核實  ｜  版型 1：一對一論法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2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415 萬單台均價錨定中階利基，具備中等資本財之合約議價與獲利能力</a:t>
            </a:r>
          </a:p>
          <a:p>
            <a:pPr>
              <a:defRPr sz="1250">
                <a:solidFill>
                  <a:srgbClr val="6B7280"/>
                </a:solidFill>
              </a:defRPr>
            </a:pPr>
            <a:r>
              <a:t>以司法判決真實成交合約比對兩岸及歐日冷鍛成型機價格帶分布</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資料來源：臺灣高等法院臺南分院 114年度上字第149號民事判決書、扣件設備產業訪查行情</a:t>
            </a:r>
          </a:p>
        </p:txBody>
      </p:sp>
      <p:sp>
        <p:nvSpPr>
          <p:cNvPr id="7" name="Rectangle 6"/>
          <p:cNvSpPr/>
          <p:nvPr/>
        </p:nvSpPr>
        <p:spPr>
          <a:xfrm>
            <a:off x="1385316" y="5434965"/>
            <a:ext cx="777240" cy="325754"/>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8156" y="5087493"/>
            <a:ext cx="1051560" cy="320040"/>
          </a:xfrm>
          <a:prstGeom prst="rect">
            <a:avLst/>
          </a:prstGeom>
          <a:noFill/>
        </p:spPr>
        <p:txBody>
          <a:bodyPr wrap="none">
            <a:spAutoFit/>
          </a:bodyPr>
          <a:lstStyle/>
          <a:p>
            <a:pPr algn="ctr">
              <a:defRPr sz="1100" b="0">
                <a:solidFill>
                  <a:srgbClr val="6B7280"/>
                </a:solidFill>
              </a:defRPr>
            </a:pPr>
            <a:r>
              <a:t>150 萬</a:t>
            </a:r>
          </a:p>
        </p:txBody>
      </p:sp>
      <p:sp>
        <p:nvSpPr>
          <p:cNvPr id="9" name="TextBox 8"/>
          <p:cNvSpPr txBox="1"/>
          <p:nvPr/>
        </p:nvSpPr>
        <p:spPr>
          <a:xfrm>
            <a:off x="1202436" y="5833872"/>
            <a:ext cx="1143000" cy="365760"/>
          </a:xfrm>
          <a:prstGeom prst="rect">
            <a:avLst/>
          </a:prstGeom>
          <a:noFill/>
        </p:spPr>
        <p:txBody>
          <a:bodyPr wrap="none">
            <a:spAutoFit/>
          </a:bodyPr>
          <a:lstStyle/>
          <a:p>
            <a:pPr algn="ctr">
              <a:defRPr sz="1200" b="0">
                <a:solidFill>
                  <a:srgbClr val="1F2937"/>
                </a:solidFill>
              </a:defRPr>
            </a:pPr>
            <a:r>
              <a:t>陸製平價機</a:t>
            </a:r>
          </a:p>
        </p:txBody>
      </p:sp>
      <p:sp>
        <p:nvSpPr>
          <p:cNvPr id="10" name="Rectangle 9"/>
          <p:cNvSpPr/>
          <p:nvPr/>
        </p:nvSpPr>
        <p:spPr>
          <a:xfrm>
            <a:off x="2738627" y="5152644"/>
            <a:ext cx="777240" cy="608075"/>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01468" y="4805172"/>
            <a:ext cx="1051560" cy="320040"/>
          </a:xfrm>
          <a:prstGeom prst="rect">
            <a:avLst/>
          </a:prstGeom>
          <a:noFill/>
        </p:spPr>
        <p:txBody>
          <a:bodyPr wrap="none">
            <a:spAutoFit/>
          </a:bodyPr>
          <a:lstStyle/>
          <a:p>
            <a:pPr algn="ctr">
              <a:defRPr sz="1100" b="0">
                <a:solidFill>
                  <a:srgbClr val="6B7280"/>
                </a:solidFill>
              </a:defRPr>
            </a:pPr>
            <a:r>
              <a:t>280 萬</a:t>
            </a:r>
          </a:p>
        </p:txBody>
      </p:sp>
      <p:sp>
        <p:nvSpPr>
          <p:cNvPr id="12" name="TextBox 11"/>
          <p:cNvSpPr txBox="1"/>
          <p:nvPr/>
        </p:nvSpPr>
        <p:spPr>
          <a:xfrm>
            <a:off x="2555747" y="5833872"/>
            <a:ext cx="1143000" cy="365760"/>
          </a:xfrm>
          <a:prstGeom prst="rect">
            <a:avLst/>
          </a:prstGeom>
          <a:noFill/>
        </p:spPr>
        <p:txBody>
          <a:bodyPr wrap="none">
            <a:spAutoFit/>
          </a:bodyPr>
          <a:lstStyle/>
          <a:p>
            <a:pPr algn="ctr">
              <a:defRPr sz="1200" b="0">
                <a:solidFill>
                  <a:srgbClr val="1F2937"/>
                </a:solidFill>
              </a:defRPr>
            </a:pPr>
            <a:r>
              <a:t>台製通用機</a:t>
            </a:r>
          </a:p>
        </p:txBody>
      </p:sp>
      <p:sp>
        <p:nvSpPr>
          <p:cNvPr id="13" name="Rectangle 12"/>
          <p:cNvSpPr/>
          <p:nvPr/>
        </p:nvSpPr>
        <p:spPr>
          <a:xfrm>
            <a:off x="4091940" y="4859464"/>
            <a:ext cx="777240" cy="901255"/>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54780" y="4511992"/>
            <a:ext cx="1051560" cy="320040"/>
          </a:xfrm>
          <a:prstGeom prst="rect">
            <a:avLst/>
          </a:prstGeom>
          <a:noFill/>
        </p:spPr>
        <p:txBody>
          <a:bodyPr wrap="none">
            <a:spAutoFit/>
          </a:bodyPr>
          <a:lstStyle/>
          <a:p>
            <a:pPr algn="ctr">
              <a:defRPr sz="1300" b="1">
                <a:solidFill>
                  <a:srgbClr val="004F32"/>
                </a:solidFill>
              </a:defRPr>
            </a:pPr>
            <a:r>
              <a:t>415 萬</a:t>
            </a:r>
          </a:p>
        </p:txBody>
      </p:sp>
      <p:sp>
        <p:nvSpPr>
          <p:cNvPr id="15" name="TextBox 14"/>
          <p:cNvSpPr txBox="1"/>
          <p:nvPr/>
        </p:nvSpPr>
        <p:spPr>
          <a:xfrm>
            <a:off x="3909060" y="5833872"/>
            <a:ext cx="1143000" cy="365760"/>
          </a:xfrm>
          <a:prstGeom prst="rect">
            <a:avLst/>
          </a:prstGeom>
          <a:noFill/>
        </p:spPr>
        <p:txBody>
          <a:bodyPr wrap="none">
            <a:spAutoFit/>
          </a:bodyPr>
          <a:lstStyle/>
          <a:p>
            <a:pPr algn="ctr">
              <a:defRPr sz="1200" b="1">
                <a:solidFill>
                  <a:srgbClr val="004F32"/>
                </a:solidFill>
              </a:defRPr>
            </a:pPr>
            <a:r>
              <a:t>三星/朝璟 (PF86L)</a:t>
            </a:r>
          </a:p>
        </p:txBody>
      </p:sp>
      <p:sp>
        <p:nvSpPr>
          <p:cNvPr id="16" name="Rectangle 15"/>
          <p:cNvSpPr/>
          <p:nvPr/>
        </p:nvSpPr>
        <p:spPr>
          <a:xfrm>
            <a:off x="5445252" y="3914775"/>
            <a:ext cx="777240" cy="1845944"/>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8092" y="3567303"/>
            <a:ext cx="1051560" cy="320040"/>
          </a:xfrm>
          <a:prstGeom prst="rect">
            <a:avLst/>
          </a:prstGeom>
          <a:noFill/>
        </p:spPr>
        <p:txBody>
          <a:bodyPr wrap="none">
            <a:spAutoFit/>
          </a:bodyPr>
          <a:lstStyle/>
          <a:p>
            <a:pPr algn="ctr">
              <a:defRPr sz="1100" b="0">
                <a:solidFill>
                  <a:srgbClr val="6B7280"/>
                </a:solidFill>
              </a:defRPr>
            </a:pPr>
            <a:r>
              <a:t>850 萬</a:t>
            </a:r>
          </a:p>
        </p:txBody>
      </p:sp>
      <p:sp>
        <p:nvSpPr>
          <p:cNvPr id="18" name="TextBox 17"/>
          <p:cNvSpPr txBox="1"/>
          <p:nvPr/>
        </p:nvSpPr>
        <p:spPr>
          <a:xfrm>
            <a:off x="5262372" y="5833872"/>
            <a:ext cx="1143000" cy="365760"/>
          </a:xfrm>
          <a:prstGeom prst="rect">
            <a:avLst/>
          </a:prstGeom>
          <a:noFill/>
        </p:spPr>
        <p:txBody>
          <a:bodyPr wrap="none">
            <a:spAutoFit/>
          </a:bodyPr>
          <a:lstStyle/>
          <a:p>
            <a:pPr algn="ctr">
              <a:defRPr sz="1200" b="0">
                <a:solidFill>
                  <a:srgbClr val="1F2937"/>
                </a:solidFill>
              </a:defRPr>
            </a:pPr>
            <a:r>
              <a:t>日本中階機</a:t>
            </a:r>
          </a:p>
        </p:txBody>
      </p:sp>
      <p:sp>
        <p:nvSpPr>
          <p:cNvPr id="19" name="Rectangle 18"/>
          <p:cNvSpPr/>
          <p:nvPr/>
        </p:nvSpPr>
        <p:spPr>
          <a:xfrm>
            <a:off x="6798564" y="2286000"/>
            <a:ext cx="777240" cy="347472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1404" y="1938528"/>
            <a:ext cx="1051560" cy="320040"/>
          </a:xfrm>
          <a:prstGeom prst="rect">
            <a:avLst/>
          </a:prstGeom>
          <a:noFill/>
        </p:spPr>
        <p:txBody>
          <a:bodyPr wrap="none">
            <a:spAutoFit/>
          </a:bodyPr>
          <a:lstStyle/>
          <a:p>
            <a:pPr algn="ctr">
              <a:defRPr sz="1100" b="0">
                <a:solidFill>
                  <a:srgbClr val="6B7280"/>
                </a:solidFill>
              </a:defRPr>
            </a:pPr>
            <a:r>
              <a:t>1600 萬</a:t>
            </a:r>
          </a:p>
        </p:txBody>
      </p:sp>
      <p:sp>
        <p:nvSpPr>
          <p:cNvPr id="21" name="TextBox 20"/>
          <p:cNvSpPr txBox="1"/>
          <p:nvPr/>
        </p:nvSpPr>
        <p:spPr>
          <a:xfrm>
            <a:off x="6615684" y="5833872"/>
            <a:ext cx="1143000" cy="365760"/>
          </a:xfrm>
          <a:prstGeom prst="rect">
            <a:avLst/>
          </a:prstGeom>
          <a:noFill/>
        </p:spPr>
        <p:txBody>
          <a:bodyPr wrap="none">
            <a:spAutoFit/>
          </a:bodyPr>
          <a:lstStyle/>
          <a:p>
            <a:pPr algn="ctr">
              <a:defRPr sz="1200" b="0">
                <a:solidFill>
                  <a:srgbClr val="1F2937"/>
                </a:solidFill>
              </a:defRPr>
            </a:pPr>
            <a:r>
              <a:t>歐美頂級機</a:t>
            </a:r>
          </a:p>
        </p:txBody>
      </p:sp>
      <p:sp>
        <p:nvSpPr>
          <p:cNvPr id="22" name="Rounded Rectangle 21"/>
          <p:cNvSpPr/>
          <p:nvPr/>
        </p:nvSpPr>
        <p:spPr>
          <a:xfrm>
            <a:off x="8229600" y="2011680"/>
            <a:ext cx="3200400" cy="3749039"/>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194560"/>
            <a:ext cx="2834640" cy="3383280"/>
          </a:xfrm>
          <a:prstGeom prst="rect">
            <a:avLst/>
          </a:prstGeom>
          <a:noFill/>
        </p:spPr>
        <p:txBody>
          <a:bodyPr wrap="square">
            <a:spAutoFit/>
          </a:bodyPr>
          <a:lstStyle/>
          <a:p>
            <a:pPr>
              <a:spcAft>
                <a:spcPts val="1000"/>
              </a:spcAft>
              <a:defRPr sz="1500" b="1">
                <a:solidFill>
                  <a:srgbClr val="177B57"/>
                </a:solidFill>
              </a:defRPr>
            </a:pPr>
            <a:r>
              <a:t>法院認證之單台合約價</a:t>
            </a:r>
          </a:p>
          <a:p>
            <a:pPr>
              <a:spcAft>
                <a:spcPts val="800"/>
              </a:spcAft>
              <a:defRPr sz="1250">
                <a:solidFill>
                  <a:srgbClr val="1F2937"/>
                </a:solidFill>
              </a:defRPr>
            </a:pPr>
            <a:r>
              <a:t>• 臺灣高等法院臺南分院 114年度上字第149號判決載明真實合約價 415 萬元（未稅）。</a:t>
            </a:r>
          </a:p>
          <a:p>
            <a:pPr>
              <a:spcAft>
                <a:spcPts val="800"/>
              </a:spcAft>
              <a:defRPr sz="1250">
                <a:solidFill>
                  <a:srgbClr val="1F2937"/>
                </a:solidFill>
              </a:defRPr>
            </a:pPr>
            <a:r>
              <a:t>• 首期簽約訂金收取 96 萬元（約 23.1%），機台到廠試車後付清尾款。</a:t>
            </a:r>
          </a:p>
          <a:p>
            <a:pPr>
              <a:spcAft>
                <a:spcPts val="800"/>
              </a:spcAft>
              <a:defRPr sz="1250">
                <a:solidFill>
                  <a:srgbClr val="1F2937"/>
                </a:solidFill>
              </a:defRPr>
            </a:pPr>
            <a:r>
              <a:t>• 定價證明其非走低價傾銷路線，而是卡位「中小型扣件廠買得起、大陸機做不出」之利基帶。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營運體質評估  ｜  版型 2：並列論法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3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營運體質三大支柱：核心專利防禦、日台零組件混血與小於20人精兵架構</a:t>
            </a:r>
          </a:p>
          <a:p>
            <a:pPr>
              <a:defRPr sz="1250">
                <a:solidFill>
                  <a:srgbClr val="64748B"/>
                </a:solidFill>
              </a:defRPr>
            </a:pPr>
            <a:r>
              <a:t>從研發、供應鏈到人事管理維度評估其營運持續性與財務抗風險能力</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資料來源：經濟部智慧財產局專利公報、Fastener World 專訪廖彥榮總經理發言紀錄</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1：關鍵專利防禦</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發明專利第 I589390 號「成型機之夾持裝置」，掌握複雜工件自動翻轉核心</a:t>
            </a:r>
          </a:p>
          <a:p>
            <a:pPr>
              <a:spcAft>
                <a:spcPts val="600"/>
              </a:spcAft>
              <a:defRPr sz="1250">
                <a:solidFill>
                  <a:srgbClr val="0F172A"/>
                </a:solidFill>
              </a:defRPr>
            </a:pPr>
            <a:r>
              <a:t>2. 新型專利第 M627444 號「具抑制作動震動之成型機」，確保高速衝壓穩定</a:t>
            </a:r>
          </a:p>
          <a:p>
            <a:pPr>
              <a:spcAft>
                <a:spcPts val="600"/>
              </a:spcAft>
              <a:defRPr sz="1250">
                <a:solidFill>
                  <a:srgbClr val="0F172A"/>
                </a:solidFill>
              </a:defRPr>
            </a:pPr>
            <a:r>
              <a:t>3. 專利技術在台越兩地布局，拉開與二線副廠技術代差</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2：日台零組件混血</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機體採用台灣高品質 FCD 球狀石墨鑄鐵，剛性與減震兼具</a:t>
            </a:r>
          </a:p>
          <a:p>
            <a:pPr>
              <a:spcAft>
                <a:spcPts val="600"/>
              </a:spcAft>
              <a:defRPr sz="1250">
                <a:solidFill>
                  <a:srgbClr val="0F172A"/>
                </a:solidFill>
              </a:defRPr>
            </a:pPr>
            <a:r>
              <a:t>2. 核心滾柱軸承與重要傳動合金鋼嚴選日本進口件</a:t>
            </a:r>
          </a:p>
          <a:p>
            <a:pPr>
              <a:spcAft>
                <a:spcPts val="600"/>
              </a:spcAft>
              <a:defRPr sz="1250">
                <a:solidFill>
                  <a:srgbClr val="0F172A"/>
                </a:solidFill>
              </a:defRPr>
            </a:pPr>
            <a:r>
              <a:t>3. 以日本原裝機 50% 成本達成 85% 耐用度與精度</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支柱 3：極致精兵管銷</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全廠人員嚴格控制在 20 人以內，無龐大行政人事包袱</a:t>
            </a:r>
          </a:p>
          <a:p>
            <a:pPr>
              <a:spcAft>
                <a:spcPts val="600"/>
              </a:spcAft>
              <a:defRPr sz="1250">
                <a:solidFill>
                  <a:srgbClr val="0F172A"/>
                </a:solidFill>
              </a:defRPr>
            </a:pPr>
            <a:r>
              <a:t>2. 主力規格（5~10mm 線徑）備妥標準毛胚庫存，交期短</a:t>
            </a:r>
          </a:p>
          <a:p>
            <a:pPr>
              <a:spcAft>
                <a:spcPts val="600"/>
              </a:spcAft>
              <a:defRPr sz="1250">
                <a:solidFill>
                  <a:srgbClr val="0F172A"/>
                </a:solidFill>
              </a:defRPr>
            </a:pPr>
            <a:r>
              <a:t>3. 景氣下行抗虧損能力極強，景氣回溫毛利快速轉化為淨現金流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法人主體徵信  ｜  版型 6：對立論法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4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法人主體與股權徵信：獨立製造商，與台南上市公司「三星科技 5007」無關</a:t>
            </a:r>
          </a:p>
          <a:p>
            <a:pPr>
              <a:defRPr sz="1250">
                <a:solidFill>
                  <a:srgbClr val="64748B"/>
                </a:solidFill>
              </a:defRPr>
            </a:pPr>
            <a:r>
              <a:t>比對上市公司「三星科技 5007」與「三星螺絲成型機」，釐清法律責任與實力邊界</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資料來源：公開資訊觀測站（MOPS）、經濟部商業發展署商工公示資料庫</a:t>
            </a:r>
          </a:p>
        </p:txBody>
      </p:sp>
      <p:sp>
        <p:nvSpPr>
          <p:cNvPr id="7" name="Rectangle 6"/>
          <p:cNvSpPr/>
          <p:nvPr/>
        </p:nvSpPr>
        <p:spPr>
          <a:xfrm>
            <a:off x="2651760" y="1828800"/>
            <a:ext cx="4297680" cy="5029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② 見解 A</a:t>
            </a:r>
          </a:p>
        </p:txBody>
      </p:sp>
      <p:sp>
        <p:nvSpPr>
          <p:cNvPr id="8" name="Rectangle 7"/>
          <p:cNvSpPr/>
          <p:nvPr/>
        </p:nvSpPr>
        <p:spPr>
          <a:xfrm>
            <a:off x="7132320" y="1828800"/>
            <a:ext cx="42976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② 見解 B</a:t>
            </a:r>
          </a:p>
        </p:txBody>
      </p:sp>
      <p:sp>
        <p:nvSpPr>
          <p:cNvPr id="9" name="Oval 8"/>
          <p:cNvSpPr/>
          <p:nvPr/>
        </p:nvSpPr>
        <p:spPr>
          <a:xfrm>
            <a:off x="731520" y="2468880"/>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10" name="Rounded Rectangle 9"/>
          <p:cNvSpPr/>
          <p:nvPr/>
        </p:nvSpPr>
        <p:spPr>
          <a:xfrm>
            <a:off x="265176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p>
        </p:txBody>
      </p:sp>
      <p:sp>
        <p:nvSpPr>
          <p:cNvPr id="12" name="Rounded Rectangle 11"/>
          <p:cNvSpPr/>
          <p:nvPr/>
        </p:nvSpPr>
        <p:spPr>
          <a:xfrm>
            <a:off x="713232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p>
        </p:txBody>
      </p:sp>
      <p:sp>
        <p:nvSpPr>
          <p:cNvPr id="14" name="Oval 13"/>
          <p:cNvSpPr/>
          <p:nvPr/>
        </p:nvSpPr>
        <p:spPr>
          <a:xfrm>
            <a:off x="731520" y="3447288"/>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15" name="Rounded Rectangle 14"/>
          <p:cNvSpPr/>
          <p:nvPr/>
        </p:nvSpPr>
        <p:spPr>
          <a:xfrm>
            <a:off x="265176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p>
        </p:txBody>
      </p:sp>
      <p:sp>
        <p:nvSpPr>
          <p:cNvPr id="17" name="Rounded Rectangle 16"/>
          <p:cNvSpPr/>
          <p:nvPr/>
        </p:nvSpPr>
        <p:spPr>
          <a:xfrm>
            <a:off x="713232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p>
        </p:txBody>
      </p:sp>
      <p:sp>
        <p:nvSpPr>
          <p:cNvPr id="19" name="Oval 18"/>
          <p:cNvSpPr/>
          <p:nvPr/>
        </p:nvSpPr>
        <p:spPr>
          <a:xfrm>
            <a:off x="731520" y="4425696"/>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20" name="Rounded Rectangle 19"/>
          <p:cNvSpPr/>
          <p:nvPr/>
        </p:nvSpPr>
        <p:spPr>
          <a:xfrm>
            <a:off x="265176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p>
        </p:txBody>
      </p:sp>
      <p:sp>
        <p:nvSpPr>
          <p:cNvPr id="22" name="Rounded Rectangle 21"/>
          <p:cNvSpPr/>
          <p:nvPr/>
        </p:nvSpPr>
        <p:spPr>
          <a:xfrm>
            <a:off x="713232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p>
        </p:txBody>
      </p:sp>
      <p:sp>
        <p:nvSpPr>
          <p:cNvPr id="24" name="Oval 23"/>
          <p:cNvSpPr/>
          <p:nvPr/>
        </p:nvSpPr>
        <p:spPr>
          <a:xfrm>
            <a:off x="731520" y="5404104"/>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25" name="Rounded Rectangle 24"/>
          <p:cNvSpPr/>
          <p:nvPr/>
        </p:nvSpPr>
        <p:spPr>
          <a:xfrm>
            <a:off x="2651760" y="5404104"/>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88920" y="5477256"/>
            <a:ext cx="4023360" cy="722375"/>
          </a:xfrm>
          <a:prstGeom prst="rect">
            <a:avLst/>
          </a:prstGeom>
          <a:noFill/>
        </p:spPr>
        <p:txBody>
          <a:bodyPr wrap="square">
            <a:spAutoFit/>
          </a:bodyPr>
          <a:lstStyle/>
          <a:p>
            <a:pPr>
              <a:defRPr sz="1200">
                <a:solidFill>
                  <a:srgbClr val="1F2937"/>
                </a:solidFill>
              </a:defRPr>
            </a:pPr>
          </a:p>
        </p:txBody>
      </p:sp>
      <p:sp>
        <p:nvSpPr>
          <p:cNvPr id="27" name="Rounded Rectangle 26"/>
          <p:cNvSpPr/>
          <p:nvPr/>
        </p:nvSpPr>
        <p:spPr>
          <a:xfrm>
            <a:off x="7132320" y="5404104"/>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5477256"/>
            <a:ext cx="4023360" cy="722375"/>
          </a:xfrm>
          <a:prstGeom prst="rect">
            <a:avLst/>
          </a:prstGeom>
          <a:noFill/>
        </p:spPr>
        <p:txBody>
          <a:bodyPr wrap="square">
            <a:spAutoFit/>
          </a:bodyPr>
          <a:lstStyle/>
          <a:p>
            <a:pPr>
              <a:defRPr sz="1200">
                <a:solidFill>
                  <a:srgbClr val="1F2937"/>
                </a:solidFill>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價值鏈運作診斷  ｜  版型 5：麥肯錫論法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5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端到端價值鏈運作診斷：高毛利源於關鍵組裝，履約最大盲點在配件驗收</a:t>
            </a:r>
          </a:p>
          <a:p>
            <a:pPr>
              <a:defRPr sz="1250">
                <a:solidFill>
                  <a:srgbClr val="64748B"/>
                </a:solidFill>
              </a:defRPr>
            </a:pPr>
            <a:r>
              <a:t>沿著機台生產至交付流程，剖析各階段運作實務、核心利潤點與潛在風險</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資料來源：臺灣高等法院臺南分院 114年度上字第149號判決、機械設備業供應鏈價值鏈模型</a:t>
            </a:r>
          </a:p>
        </p:txBody>
      </p:sp>
      <p:sp>
        <p:nvSpPr>
          <p:cNvPr id="7" name="Chevron 6"/>
          <p:cNvSpPr/>
          <p:nvPr/>
        </p:nvSpPr>
        <p:spPr>
          <a:xfrm>
            <a:off x="2834640"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1：研發與進料</a:t>
            </a:r>
          </a:p>
        </p:txBody>
      </p:sp>
      <p:sp>
        <p:nvSpPr>
          <p:cNvPr id="8" name="Chevron 7"/>
          <p:cNvSpPr/>
          <p:nvPr/>
        </p:nvSpPr>
        <p:spPr>
          <a:xfrm>
            <a:off x="5770778"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2：模組組裝調校</a:t>
            </a:r>
          </a:p>
        </p:txBody>
      </p:sp>
      <p:sp>
        <p:nvSpPr>
          <p:cNvPr id="9" name="Chevron 8"/>
          <p:cNvSpPr/>
          <p:nvPr/>
        </p:nvSpPr>
        <p:spPr>
          <a:xfrm>
            <a:off x="8706916" y="1828800"/>
            <a:ext cx="2753258" cy="59436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階段 3：交機試車驗收</a:t>
            </a:r>
          </a:p>
        </p:txBody>
      </p:sp>
      <p:sp>
        <p:nvSpPr>
          <p:cNvPr id="10" name="Rectangle 9"/>
          <p:cNvSpPr/>
          <p:nvPr/>
        </p:nvSpPr>
        <p:spPr>
          <a:xfrm>
            <a:off x="731520" y="2606040"/>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1</a:t>
            </a:r>
          </a:p>
        </p:txBody>
      </p:sp>
      <p:sp>
        <p:nvSpPr>
          <p:cNvPr id="11" name="Rounded Rectangle 10"/>
          <p:cNvSpPr/>
          <p:nvPr/>
        </p:nvSpPr>
        <p:spPr>
          <a:xfrm>
            <a:off x="2834640"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71800" y="2743200"/>
            <a:ext cx="2478938" cy="914400"/>
          </a:xfrm>
          <a:prstGeom prst="rect">
            <a:avLst/>
          </a:prstGeom>
          <a:noFill/>
        </p:spPr>
        <p:txBody>
          <a:bodyPr wrap="square">
            <a:spAutoFit/>
          </a:bodyPr>
          <a:lstStyle/>
          <a:p>
            <a:pPr>
              <a:defRPr sz="1250">
                <a:solidFill>
                  <a:srgbClr val="1F2937"/>
                </a:solidFill>
              </a:defRPr>
            </a:pPr>
            <a:r>
              <a:t>—</a:t>
            </a:r>
          </a:p>
        </p:txBody>
      </p:sp>
      <p:sp>
        <p:nvSpPr>
          <p:cNvPr id="13" name="Rounded Rectangle 12"/>
          <p:cNvSpPr/>
          <p:nvPr/>
        </p:nvSpPr>
        <p:spPr>
          <a:xfrm>
            <a:off x="5770778"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938" y="2743200"/>
            <a:ext cx="2478938" cy="914400"/>
          </a:xfrm>
          <a:prstGeom prst="rect">
            <a:avLst/>
          </a:prstGeom>
          <a:noFill/>
        </p:spPr>
        <p:txBody>
          <a:bodyPr wrap="square">
            <a:spAutoFit/>
          </a:bodyPr>
          <a:lstStyle/>
          <a:p>
            <a:pPr>
              <a:defRPr sz="1250">
                <a:solidFill>
                  <a:srgbClr val="1F2937"/>
                </a:solidFill>
              </a:defRPr>
            </a:pPr>
            <a:r>
              <a:t>—</a:t>
            </a:r>
          </a:p>
        </p:txBody>
      </p:sp>
      <p:sp>
        <p:nvSpPr>
          <p:cNvPr id="15" name="Rounded Rectangle 14"/>
          <p:cNvSpPr/>
          <p:nvPr/>
        </p:nvSpPr>
        <p:spPr>
          <a:xfrm>
            <a:off x="8706916" y="2606040"/>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44076" y="2743200"/>
            <a:ext cx="2478938" cy="914400"/>
          </a:xfrm>
          <a:prstGeom prst="rect">
            <a:avLst/>
          </a:prstGeom>
          <a:noFill/>
        </p:spPr>
        <p:txBody>
          <a:bodyPr wrap="square">
            <a:spAutoFit/>
          </a:bodyPr>
          <a:lstStyle/>
          <a:p>
            <a:pPr>
              <a:defRPr sz="1250">
                <a:solidFill>
                  <a:srgbClr val="1F2937"/>
                </a:solidFill>
              </a:defRPr>
            </a:pPr>
            <a:r>
              <a:t>—</a:t>
            </a:r>
          </a:p>
        </p:txBody>
      </p:sp>
      <p:sp>
        <p:nvSpPr>
          <p:cNvPr id="17" name="Rectangle 16"/>
          <p:cNvSpPr/>
          <p:nvPr/>
        </p:nvSpPr>
        <p:spPr>
          <a:xfrm>
            <a:off x="731520" y="3977639"/>
            <a:ext cx="1920240" cy="11887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2</a:t>
            </a:r>
          </a:p>
        </p:txBody>
      </p:sp>
      <p:sp>
        <p:nvSpPr>
          <p:cNvPr id="18" name="Rounded Rectangle 17"/>
          <p:cNvSpPr/>
          <p:nvPr/>
        </p:nvSpPr>
        <p:spPr>
          <a:xfrm>
            <a:off x="2834640"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4114800"/>
            <a:ext cx="2478938" cy="914400"/>
          </a:xfrm>
          <a:prstGeom prst="rect">
            <a:avLst/>
          </a:prstGeom>
          <a:noFill/>
        </p:spPr>
        <p:txBody>
          <a:bodyPr wrap="square">
            <a:spAutoFit/>
          </a:bodyPr>
          <a:lstStyle/>
          <a:p>
            <a:pPr>
              <a:defRPr sz="1250">
                <a:solidFill>
                  <a:srgbClr val="1F2937"/>
                </a:solidFill>
              </a:defRPr>
            </a:pPr>
            <a:r>
              <a:t>—</a:t>
            </a:r>
          </a:p>
        </p:txBody>
      </p:sp>
      <p:sp>
        <p:nvSpPr>
          <p:cNvPr id="20" name="Rounded Rectangle 19"/>
          <p:cNvSpPr/>
          <p:nvPr/>
        </p:nvSpPr>
        <p:spPr>
          <a:xfrm>
            <a:off x="5770778"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07938" y="4114800"/>
            <a:ext cx="2478938" cy="914400"/>
          </a:xfrm>
          <a:prstGeom prst="rect">
            <a:avLst/>
          </a:prstGeom>
          <a:noFill/>
        </p:spPr>
        <p:txBody>
          <a:bodyPr wrap="square">
            <a:spAutoFit/>
          </a:bodyPr>
          <a:lstStyle/>
          <a:p>
            <a:pPr>
              <a:defRPr sz="1250">
                <a:solidFill>
                  <a:srgbClr val="1F2937"/>
                </a:solidFill>
              </a:defRPr>
            </a:pPr>
            <a:r>
              <a:t>—</a:t>
            </a:r>
          </a:p>
        </p:txBody>
      </p:sp>
      <p:sp>
        <p:nvSpPr>
          <p:cNvPr id="22" name="Rounded Rectangle 21"/>
          <p:cNvSpPr/>
          <p:nvPr/>
        </p:nvSpPr>
        <p:spPr>
          <a:xfrm>
            <a:off x="8706916" y="3977639"/>
            <a:ext cx="2753258" cy="11887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44076" y="4114800"/>
            <a:ext cx="2478938" cy="914400"/>
          </a:xfrm>
          <a:prstGeom prst="rect">
            <a:avLst/>
          </a:prstGeom>
          <a:noFill/>
        </p:spPr>
        <p:txBody>
          <a:bodyPr wrap="square">
            <a:spAutoFit/>
          </a:bodyPr>
          <a:lstStyle/>
          <a:p>
            <a:pPr>
              <a:defRPr sz="1250">
                <a:solidFill>
                  <a:srgbClr val="1F2937"/>
                </a:solidFill>
              </a:defRPr>
            </a:pPr>
            <a:r>
              <a:t>—</a:t>
            </a:r>
          </a:p>
        </p:txBody>
      </p:sp>
      <p:sp>
        <p:nvSpPr>
          <p:cNvPr id="24" name="Rectangle 23"/>
          <p:cNvSpPr/>
          <p:nvPr/>
        </p:nvSpPr>
        <p:spPr>
          <a:xfrm>
            <a:off x="731520" y="5349240"/>
            <a:ext cx="1920240"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要素 3</a:t>
            </a:r>
          </a:p>
        </p:txBody>
      </p:sp>
      <p:sp>
        <p:nvSpPr>
          <p:cNvPr id="25" name="Rounded Rectangle 24"/>
          <p:cNvSpPr/>
          <p:nvPr/>
        </p:nvSpPr>
        <p:spPr>
          <a:xfrm>
            <a:off x="2834640"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486400"/>
            <a:ext cx="2478938" cy="914400"/>
          </a:xfrm>
          <a:prstGeom prst="rect">
            <a:avLst/>
          </a:prstGeom>
          <a:noFill/>
        </p:spPr>
        <p:txBody>
          <a:bodyPr wrap="square">
            <a:spAutoFit/>
          </a:bodyPr>
          <a:lstStyle/>
          <a:p>
            <a:pPr>
              <a:defRPr sz="1250">
                <a:solidFill>
                  <a:srgbClr val="1F2937"/>
                </a:solidFill>
              </a:defRPr>
            </a:pPr>
            <a:r>
              <a:t>—</a:t>
            </a:r>
          </a:p>
        </p:txBody>
      </p:sp>
      <p:sp>
        <p:nvSpPr>
          <p:cNvPr id="27" name="Rounded Rectangle 26"/>
          <p:cNvSpPr/>
          <p:nvPr/>
        </p:nvSpPr>
        <p:spPr>
          <a:xfrm>
            <a:off x="5770778"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07938" y="5486400"/>
            <a:ext cx="2478938" cy="914400"/>
          </a:xfrm>
          <a:prstGeom prst="rect">
            <a:avLst/>
          </a:prstGeom>
          <a:noFill/>
        </p:spPr>
        <p:txBody>
          <a:bodyPr wrap="square">
            <a:spAutoFit/>
          </a:bodyPr>
          <a:lstStyle/>
          <a:p>
            <a:pPr>
              <a:defRPr sz="1250">
                <a:solidFill>
                  <a:srgbClr val="1F2937"/>
                </a:solidFill>
              </a:defRPr>
            </a:pPr>
            <a:r>
              <a:t>—</a:t>
            </a:r>
          </a:p>
        </p:txBody>
      </p:sp>
      <p:sp>
        <p:nvSpPr>
          <p:cNvPr id="29" name="Rounded Rectangle 28"/>
          <p:cNvSpPr/>
          <p:nvPr/>
        </p:nvSpPr>
        <p:spPr>
          <a:xfrm>
            <a:off x="8706916" y="5349240"/>
            <a:ext cx="2753258" cy="11887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44076" y="5486400"/>
            <a:ext cx="2478938" cy="914400"/>
          </a:xfrm>
          <a:prstGeom prst="rect">
            <a:avLst/>
          </a:prstGeom>
          <a:noFill/>
        </p:spPr>
        <p:txBody>
          <a:bodyPr wrap="square">
            <a:spAutoFit/>
          </a:bodyPr>
          <a:lstStyle/>
          <a:p>
            <a:pPr>
              <a:defRPr sz="1250">
                <a:solidFill>
                  <a:srgbClr val="1F2937"/>
                </a:solidFill>
              </a:defRPr>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交易金流全景  ｜  版型 4：連鎖論法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6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商業金流因果閉環：採資本財專案付款機制，到廠驗收前鎖定現金流</a:t>
            </a:r>
          </a:p>
          <a:p>
            <a:pPr>
              <a:defRPr sz="1250">
                <a:solidFill>
                  <a:srgbClr val="64748B"/>
                </a:solidFill>
              </a:defRPr>
            </a:pPr>
            <a:r>
              <a:t>揭示成型機台買賣之現金流轉化因果順序與回款關鍵里程碑</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資料來源：臺灣雲林地院 112訴64、臺南高分院 114上149 裁判事實陳述</a:t>
            </a:r>
          </a:p>
        </p:txBody>
      </p:sp>
      <p:sp>
        <p:nvSpPr>
          <p:cNvPr id="7" name="Right Arrow 6"/>
          <p:cNvSpPr/>
          <p:nvPr/>
        </p:nvSpPr>
        <p:spPr>
          <a:xfrm>
            <a:off x="731520" y="1874519"/>
            <a:ext cx="10728655" cy="384048"/>
          </a:xfrm>
          <a:prstGeom prst="rightArrow">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客戶簽約付訂 ──────► 廠內組裝測試 ──────► 現場安裝試沖 ──────► 尾款驗收結清</a:t>
            </a:r>
          </a:p>
        </p:txBody>
      </p:sp>
      <p:sp>
        <p:nvSpPr>
          <p:cNvPr id="8" name="Chevron 7"/>
          <p:cNvSpPr/>
          <p:nvPr/>
        </p:nvSpPr>
        <p:spPr>
          <a:xfrm>
            <a:off x="731520"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第 1 階段：合約簽訂</a:t>
            </a:r>
          </a:p>
        </p:txBody>
      </p:sp>
      <p:sp>
        <p:nvSpPr>
          <p:cNvPr id="9" name="Rounded Rectangle 8"/>
          <p:cNvSpPr/>
          <p:nvPr/>
        </p:nvSpPr>
        <p:spPr>
          <a:xfrm>
            <a:off x="731520"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40"/>
            <a:ext cx="2144953" cy="2468880"/>
          </a:xfrm>
          <a:prstGeom prst="rect">
            <a:avLst/>
          </a:prstGeom>
          <a:noFill/>
        </p:spPr>
        <p:txBody>
          <a:bodyPr wrap="square">
            <a:spAutoFit/>
          </a:bodyPr>
          <a:lstStyle/>
          <a:p>
            <a:pPr>
              <a:spcAft>
                <a:spcPts val="800"/>
              </a:spcAft>
              <a:defRPr sz="1300">
                <a:solidFill>
                  <a:srgbClr val="0F172A"/>
                </a:solidFill>
              </a:defRPr>
            </a:pPr>
            <a:r>
              <a:t>▪ 鎖定機型（如 PF86L 長衝程特殊零件成型機）</a:t>
            </a:r>
          </a:p>
          <a:p>
            <a:pPr>
              <a:spcAft>
                <a:spcPts val="800"/>
              </a:spcAft>
              <a:defRPr sz="1300">
                <a:solidFill>
                  <a:srgbClr val="0F172A"/>
                </a:solidFill>
              </a:defRPr>
            </a:pPr>
            <a:r>
              <a:t>▪ 買方預付約 20%~25% 簽約訂金（案例：96 萬元）</a:t>
            </a:r>
          </a:p>
          <a:p>
            <a:pPr>
              <a:spcAft>
                <a:spcPts val="800"/>
              </a:spcAft>
              <a:defRPr sz="1300">
                <a:solidFill>
                  <a:srgbClr val="0F172A"/>
                </a:solidFill>
              </a:defRPr>
            </a:pPr>
            <a:r>
              <a:t>▪ 確認特殊扣件模具與夾持翻轉規格需求</a:t>
            </a:r>
          </a:p>
        </p:txBody>
      </p:sp>
      <p:sp>
        <p:nvSpPr>
          <p:cNvPr id="11" name="Chevron 10"/>
          <p:cNvSpPr/>
          <p:nvPr/>
        </p:nvSpPr>
        <p:spPr>
          <a:xfrm>
            <a:off x="3470833"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第 2 階段：組裝調試</a:t>
            </a:r>
          </a:p>
        </p:txBody>
      </p:sp>
      <p:sp>
        <p:nvSpPr>
          <p:cNvPr id="12" name="Rounded Rectangle 11"/>
          <p:cNvSpPr/>
          <p:nvPr/>
        </p:nvSpPr>
        <p:spPr>
          <a:xfrm>
            <a:off x="3470833"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3713" y="3520440"/>
            <a:ext cx="2144953" cy="2468880"/>
          </a:xfrm>
          <a:prstGeom prst="rect">
            <a:avLst/>
          </a:prstGeom>
          <a:noFill/>
        </p:spPr>
        <p:txBody>
          <a:bodyPr wrap="square">
            <a:spAutoFit/>
          </a:bodyPr>
          <a:lstStyle/>
          <a:p>
            <a:pPr>
              <a:spcAft>
                <a:spcPts val="800"/>
              </a:spcAft>
              <a:defRPr sz="1300">
                <a:solidFill>
                  <a:srgbClr val="0F172A"/>
                </a:solidFill>
              </a:defRPr>
            </a:pPr>
            <a:r>
              <a:t>▪ 以 5~10mm 標準機台毛胚庫存快速排程</a:t>
            </a:r>
          </a:p>
          <a:p>
            <a:pPr>
              <a:spcAft>
                <a:spcPts val="800"/>
              </a:spcAft>
              <a:defRPr sz="1300">
                <a:solidFill>
                  <a:srgbClr val="0F172A"/>
                </a:solidFill>
              </a:defRPr>
            </a:pPr>
            <a:r>
              <a:t>▪ 組裝偏心平衡抑震結構與主滑座導軌</a:t>
            </a:r>
          </a:p>
          <a:p>
            <a:pPr>
              <a:spcAft>
                <a:spcPts val="800"/>
              </a:spcAft>
              <a:defRPr sz="1300">
                <a:solidFill>
                  <a:srgbClr val="0F172A"/>
                </a:solidFill>
              </a:defRPr>
            </a:pPr>
            <a:r>
              <a:t>▪ 空機連續運轉檢測衝壓行程與同心度</a:t>
            </a:r>
          </a:p>
        </p:txBody>
      </p:sp>
      <p:sp>
        <p:nvSpPr>
          <p:cNvPr id="14" name="Chevron 13"/>
          <p:cNvSpPr/>
          <p:nvPr/>
        </p:nvSpPr>
        <p:spPr>
          <a:xfrm>
            <a:off x="6210147" y="2468880"/>
            <a:ext cx="2510713" cy="777240"/>
          </a:xfrm>
          <a:prstGeom prst="chevron">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第 3 階段：到廠交機</a:t>
            </a:r>
          </a:p>
        </p:txBody>
      </p:sp>
      <p:sp>
        <p:nvSpPr>
          <p:cNvPr id="15" name="Rounded Rectangle 14"/>
          <p:cNvSpPr/>
          <p:nvPr/>
        </p:nvSpPr>
        <p:spPr>
          <a:xfrm>
            <a:off x="6210147"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3027" y="3520440"/>
            <a:ext cx="2144953" cy="2468880"/>
          </a:xfrm>
          <a:prstGeom prst="rect">
            <a:avLst/>
          </a:prstGeom>
          <a:noFill/>
        </p:spPr>
        <p:txBody>
          <a:bodyPr wrap="square">
            <a:spAutoFit/>
          </a:bodyPr>
          <a:lstStyle/>
          <a:p>
            <a:pPr>
              <a:spcAft>
                <a:spcPts val="800"/>
              </a:spcAft>
              <a:defRPr sz="1300">
                <a:solidFill>
                  <a:srgbClr val="0F172A"/>
                </a:solidFill>
              </a:defRPr>
            </a:pPr>
            <a:r>
              <a:t>▪ 機台吊運至買方廠區並定位固定</a:t>
            </a:r>
          </a:p>
          <a:p>
            <a:pPr>
              <a:spcAft>
                <a:spcPts val="800"/>
              </a:spcAft>
              <a:defRPr sz="1300">
                <a:solidFill>
                  <a:srgbClr val="0F172A"/>
                </a:solidFill>
              </a:defRPr>
            </a:pPr>
            <a:r>
              <a:t>▪ 連接冷卻潤滑系統與電控 PLC 配線</a:t>
            </a:r>
          </a:p>
          <a:p>
            <a:pPr>
              <a:spcAft>
                <a:spcPts val="800"/>
              </a:spcAft>
              <a:defRPr sz="1300">
                <a:solidFill>
                  <a:srgbClr val="0F172A"/>
                </a:solidFill>
              </a:defRPr>
            </a:pPr>
            <a:r>
              <a:t>▪ 配合客戶線材進行首批樣品試沖壓</a:t>
            </a:r>
          </a:p>
        </p:txBody>
      </p:sp>
      <p:sp>
        <p:nvSpPr>
          <p:cNvPr id="17" name="Chevron 16"/>
          <p:cNvSpPr/>
          <p:nvPr/>
        </p:nvSpPr>
        <p:spPr>
          <a:xfrm>
            <a:off x="8949461" y="2468880"/>
            <a:ext cx="2510713" cy="777240"/>
          </a:xfrm>
          <a:prstGeom prst="chevron">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第 4 階段：結算保固</a:t>
            </a:r>
          </a:p>
        </p:txBody>
      </p:sp>
      <p:sp>
        <p:nvSpPr>
          <p:cNvPr id="18" name="Rounded Rectangle 17"/>
          <p:cNvSpPr/>
          <p:nvPr/>
        </p:nvSpPr>
        <p:spPr>
          <a:xfrm>
            <a:off x="8949461" y="3383280"/>
            <a:ext cx="2510713" cy="2743200"/>
          </a:xfrm>
          <a:prstGeom prst="roundRect">
            <a:avLst/>
          </a:prstGeom>
          <a:solidFill>
            <a:srgbClr val="F9FAF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2341" y="3520440"/>
            <a:ext cx="2144953" cy="2468880"/>
          </a:xfrm>
          <a:prstGeom prst="rect">
            <a:avLst/>
          </a:prstGeom>
          <a:noFill/>
        </p:spPr>
        <p:txBody>
          <a:bodyPr wrap="square">
            <a:spAutoFit/>
          </a:bodyPr>
          <a:lstStyle/>
          <a:p>
            <a:pPr>
              <a:spcAft>
                <a:spcPts val="800"/>
              </a:spcAft>
              <a:defRPr sz="1300">
                <a:solidFill>
                  <a:srgbClr val="0F172A"/>
                </a:solidFill>
              </a:defRPr>
            </a:pPr>
            <a:r>
              <a:t>▪ 樣品合規後，買方結清剩餘 75% 尾款</a:t>
            </a:r>
          </a:p>
          <a:p>
            <a:pPr>
              <a:spcAft>
                <a:spcPts val="800"/>
              </a:spcAft>
              <a:defRPr sz="1300">
                <a:solidFill>
                  <a:srgbClr val="0F172A"/>
                </a:solidFill>
              </a:defRPr>
            </a:pPr>
            <a:r>
              <a:t>▪ 啟動 1 年機台結構保固與現場調校服務</a:t>
            </a:r>
          </a:p>
          <a:p>
            <a:pPr>
              <a:spcAft>
                <a:spcPts val="800"/>
              </a:spcAft>
              <a:defRPr sz="1300">
                <a:solidFill>
                  <a:srgbClr val="0F172A"/>
                </a:solidFill>
              </a:defRPr>
            </a:pPr>
            <a:r>
              <a:t>▪ 建立長期沖棒、剪模、牙板等耗材供應關係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技術資產評估  ｜  版型 3：結合論法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7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「翻轉夾持」與「作動抑震」兩大專利協同，構成特殊長件技術壁壘</a:t>
            </a:r>
          </a:p>
          <a:p>
            <a:pPr>
              <a:defRPr sz="1250">
                <a:solidFill>
                  <a:srgbClr val="6B7280"/>
                </a:solidFill>
              </a:defRPr>
            </a:pPr>
            <a:r>
              <a:t>雙專利機構協同作動，解決高速冷鍛多模次連續成型之物理極限</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資料來源：經濟部智慧財產局專利公報（發明第 I589390 號、新型第 M627444 號）</a:t>
            </a:r>
          </a:p>
        </p:txBody>
      </p:sp>
      <p:sp>
        <p:nvSpPr>
          <p:cNvPr id="7" name="Rounded Rectangle 6"/>
          <p:cNvSpPr/>
          <p:nvPr/>
        </p:nvSpPr>
        <p:spPr>
          <a:xfrm>
            <a:off x="2011680" y="1783080"/>
            <a:ext cx="8138160" cy="731520"/>
          </a:xfrm>
          <a:prstGeom prst="round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雙專利協同：突破長衝程異形螺栓連續鍛壓之卡料與高速震動瓶頸</a:t>
            </a:r>
          </a:p>
        </p:txBody>
      </p:sp>
      <p:sp>
        <p:nvSpPr>
          <p:cNvPr id="8" name="Rounded Rectangle 7"/>
          <p:cNvSpPr/>
          <p:nvPr/>
        </p:nvSpPr>
        <p:spPr>
          <a:xfrm>
            <a:off x="731520" y="2788920"/>
            <a:ext cx="5193792" cy="777240"/>
          </a:xfrm>
          <a:prstGeom prst="round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主要素 1：發明專利 I589390（成型機之夾持裝置）</a:t>
            </a:r>
          </a:p>
        </p:txBody>
      </p:sp>
      <p:sp>
        <p:nvSpPr>
          <p:cNvPr id="9" name="Rounded Rectangle 8"/>
          <p:cNvSpPr/>
          <p:nvPr/>
        </p:nvSpPr>
        <p:spPr>
          <a:xfrm>
            <a:off x="731520" y="3840480"/>
            <a:ext cx="1639824" cy="2286000"/>
          </a:xfrm>
          <a:prstGeom prst="roundRect">
            <a:avLst/>
          </a:prstGeom>
          <a:solidFill>
            <a:srgbClr val="F3F4F6"/>
          </a:solidFill>
          <a:ln w="1524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具備「會夾會翻」精密機械手臂機構，解決長衝程工件在模次間翻轉痛點</a:t>
            </a:r>
          </a:p>
        </p:txBody>
      </p:sp>
      <p:sp>
        <p:nvSpPr>
          <p:cNvPr id="11" name="Rounded Rectangle 10"/>
          <p:cNvSpPr/>
          <p:nvPr/>
        </p:nvSpPr>
        <p:spPr>
          <a:xfrm>
            <a:off x="2508504" y="3840480"/>
            <a:ext cx="1639824" cy="2286000"/>
          </a:xfrm>
          <a:prstGeom prst="roundRect">
            <a:avLst/>
          </a:prstGeom>
          <a:solidFill>
            <a:srgbClr val="F3F4F6"/>
          </a:solidFill>
          <a:ln w="1524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實現多沖程連續沖壓免人工二次加工，生產速度達每分鐘 150 顆以上</a:t>
            </a:r>
          </a:p>
        </p:txBody>
      </p:sp>
      <p:sp>
        <p:nvSpPr>
          <p:cNvPr id="13" name="Rounded Rectangle 12"/>
          <p:cNvSpPr/>
          <p:nvPr/>
        </p:nvSpPr>
        <p:spPr>
          <a:xfrm>
            <a:off x="4285488" y="3840480"/>
            <a:ext cx="1639824" cy="2286000"/>
          </a:xfrm>
          <a:prstGeom prst="roundRect">
            <a:avLst/>
          </a:prstGeom>
          <a:solidFill>
            <a:srgbClr val="F3F4F6"/>
          </a:solidFill>
          <a:ln w="1524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專利權期間至 2035 年，構築同級機種之關鍵技術壁壘</a:t>
            </a:r>
          </a:p>
        </p:txBody>
      </p:sp>
      <p:sp>
        <p:nvSpPr>
          <p:cNvPr id="15" name="Rounded Rectangle 14"/>
          <p:cNvSpPr/>
          <p:nvPr/>
        </p:nvSpPr>
        <p:spPr>
          <a:xfrm>
            <a:off x="6263640" y="2788920"/>
            <a:ext cx="5193792" cy="777240"/>
          </a:xfrm>
          <a:prstGeom prst="round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主要素 2：新型專利 M627444（具抑制作動震動之成型機）</a:t>
            </a:r>
          </a:p>
        </p:txBody>
      </p:sp>
      <p:sp>
        <p:nvSpPr>
          <p:cNvPr id="16" name="Rounded Rectangle 15"/>
          <p:cNvSpPr/>
          <p:nvPr/>
        </p:nvSpPr>
        <p:spPr>
          <a:xfrm>
            <a:off x="6263640" y="3840480"/>
            <a:ext cx="1639824" cy="2286000"/>
          </a:xfrm>
          <a:prstGeom prst="roundRect">
            <a:avLst/>
          </a:prstGeom>
          <a:solidFill>
            <a:srgbClr val="F3F4F6"/>
          </a:solidFill>
          <a:ln w="1524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專利偏心反向機構有效抵銷衝壓主滑座高速往復運動產生的劇烈慣性震動</a:t>
            </a:r>
          </a:p>
        </p:txBody>
      </p:sp>
      <p:sp>
        <p:nvSpPr>
          <p:cNvPr id="18" name="Rounded Rectangle 17"/>
          <p:cNvSpPr/>
          <p:nvPr/>
        </p:nvSpPr>
        <p:spPr>
          <a:xfrm>
            <a:off x="8040624" y="3840480"/>
            <a:ext cx="1639824" cy="2286000"/>
          </a:xfrm>
          <a:prstGeom prst="roundRect">
            <a:avLst/>
          </a:prstGeom>
          <a:solidFill>
            <a:srgbClr val="F3F4F6"/>
          </a:solidFill>
          <a:ln w="1524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維持高速加工時的同心度穩定，提升成型模具使用壽命達 30% 以上</a:t>
            </a:r>
          </a:p>
        </p:txBody>
      </p:sp>
      <p:sp>
        <p:nvSpPr>
          <p:cNvPr id="20" name="Rounded Rectangle 19"/>
          <p:cNvSpPr/>
          <p:nvPr/>
        </p:nvSpPr>
        <p:spPr>
          <a:xfrm>
            <a:off x="9817608" y="3840480"/>
            <a:ext cx="1639824" cy="2286000"/>
          </a:xfrm>
          <a:prstGeom prst="roundRect">
            <a:avLst/>
          </a:prstGeom>
          <a:solidFill>
            <a:srgbClr val="F3F4F6"/>
          </a:solidFill>
          <a:ln w="1524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大幅降低廠房噪音與基礎衝擊，符合現代綠色智慧製造廠房標準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產業生態位分析  ｜  版型 7：比較論法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8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設備三梯隊生態位定位：以歐日機 1/3 價格提供 85% 性能的平替方案</a:t>
            </a:r>
          </a:p>
          <a:p>
            <a:pPr>
              <a:defRPr sz="1250">
                <a:solidFill>
                  <a:srgbClr val="6B7280"/>
                </a:solidFill>
              </a:defRPr>
            </a:pPr>
            <a:r>
              <a:t>比對歐日頂級機、中國平價機與三星/朝璟利基機之共通價值與本質差異</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資料來源：國際扣件展會參展商比對、Fastener World 產業趨勢專報</a:t>
            </a:r>
          </a:p>
        </p:txBody>
      </p:sp>
      <p:sp>
        <p:nvSpPr>
          <p:cNvPr id="7" name="Rounded Rectangle 6"/>
          <p:cNvSpPr/>
          <p:nvPr/>
        </p:nvSpPr>
        <p:spPr>
          <a:xfrm>
            <a:off x="731520" y="1965960"/>
            <a:ext cx="3474720" cy="4114800"/>
          </a:xfrm>
          <a:prstGeom prst="roundRect">
            <a:avLst/>
          </a:prstGeom>
          <a:solidFill>
            <a:srgbClr val="F3F4F6"/>
          </a:solidFill>
          <a:ln w="19050">
            <a:solidFill>
              <a:srgbClr val="004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965960"/>
            <a:ext cx="3474720" cy="4114800"/>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965960"/>
            <a:ext cx="3474720" cy="4114800"/>
          </a:xfrm>
          <a:prstGeom prst="roundRect">
            <a:avLst/>
          </a:prstGeom>
          <a:solidFill>
            <a:srgbClr val="F3F4F6"/>
          </a:solidFill>
          <a:ln w="1905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3108960" cy="3749039"/>
          </a:xfrm>
          <a:prstGeom prst="rect">
            <a:avLst/>
          </a:prstGeom>
          <a:noFill/>
        </p:spPr>
        <p:txBody>
          <a:bodyPr wrap="square">
            <a:spAutoFit/>
          </a:bodyPr>
          <a:lstStyle/>
          <a:p>
            <a:pPr>
              <a:spcAft>
                <a:spcPts val="1200"/>
              </a:spcAft>
              <a:defRPr sz="1450" b="1">
                <a:solidFill>
                  <a:srgbClr val="004F32"/>
                </a:solidFill>
              </a:defRPr>
            </a:pPr>
            <a:r>
              <a:t>第一梯隊：歐日頂級機（SACMA / Asahi）</a:t>
            </a:r>
          </a:p>
          <a:p>
            <a:pPr>
              <a:spcAft>
                <a:spcPts val="800"/>
              </a:spcAft>
              <a:defRPr sz="1250">
                <a:solidFill>
                  <a:srgbClr val="1F2937"/>
                </a:solidFill>
              </a:defRPr>
            </a:pPr>
            <a:r>
              <a:t>• 單台價格：1,200 萬～2,500 萬元</a:t>
            </a:r>
          </a:p>
          <a:p>
            <a:pPr>
              <a:spcAft>
                <a:spcPts val="800"/>
              </a:spcAft>
              <a:defRPr sz="1250">
                <a:solidFill>
                  <a:srgbClr val="1F2937"/>
                </a:solidFill>
              </a:defRPr>
            </a:pPr>
            <a:r>
              <a:t>• 交期：長達 9～12 個月以上</a:t>
            </a:r>
          </a:p>
          <a:p>
            <a:pPr>
              <a:spcAft>
                <a:spcPts val="800"/>
              </a:spcAft>
              <a:defRPr sz="1250">
                <a:solidFill>
                  <a:srgbClr val="1F2937"/>
                </a:solidFill>
              </a:defRPr>
            </a:pPr>
            <a:r>
              <a:t>• 極致精度（航太與超精密級），但維護與零組件成本極高</a:t>
            </a:r>
          </a:p>
          <a:p>
            <a:pPr>
              <a:spcAft>
                <a:spcPts val="800"/>
              </a:spcAft>
              <a:defRPr sz="1250">
                <a:solidFill>
                  <a:srgbClr val="1F2937"/>
                </a:solidFill>
              </a:defRPr>
            </a:pPr>
            <a:r>
              <a:t>• 適合跨國 Tier 1 扣件巨頭超大批量訂單</a:t>
            </a:r>
          </a:p>
        </p:txBody>
      </p:sp>
      <p:sp>
        <p:nvSpPr>
          <p:cNvPr id="11" name="TextBox 10"/>
          <p:cNvSpPr txBox="1"/>
          <p:nvPr/>
        </p:nvSpPr>
        <p:spPr>
          <a:xfrm>
            <a:off x="4526280" y="2148840"/>
            <a:ext cx="3108960" cy="3749039"/>
          </a:xfrm>
          <a:prstGeom prst="rect">
            <a:avLst/>
          </a:prstGeom>
          <a:noFill/>
        </p:spPr>
        <p:txBody>
          <a:bodyPr wrap="square">
            <a:spAutoFit/>
          </a:bodyPr>
          <a:lstStyle/>
          <a:p>
            <a:pPr>
              <a:spcAft>
                <a:spcPts val="1200"/>
              </a:spcAft>
              <a:defRPr sz="1450" b="1">
                <a:solidFill>
                  <a:srgbClr val="29BA74"/>
                </a:solidFill>
              </a:defRPr>
            </a:pPr>
            <a:r>
              <a:t>產業共通目標：多模鍛壓與高產速</a:t>
            </a:r>
          </a:p>
          <a:p>
            <a:pPr>
              <a:spcAft>
                <a:spcPts val="800"/>
              </a:spcAft>
              <a:defRPr sz="1250">
                <a:solidFill>
                  <a:srgbClr val="1F2937"/>
                </a:solidFill>
              </a:defRPr>
            </a:pPr>
            <a:r>
              <a:t>• 皆追求每分鐘 150~300 顆之多模連續衝壓產能</a:t>
            </a:r>
          </a:p>
          <a:p>
            <a:pPr>
              <a:spcAft>
                <a:spcPts val="800"/>
              </a:spcAft>
              <a:defRPr sz="1250">
                <a:solidFill>
                  <a:srgbClr val="1F2937"/>
                </a:solidFill>
              </a:defRPr>
            </a:pPr>
            <a:r>
              <a:t>• 皆具備汽機車級精密公差與高剛性機身要求</a:t>
            </a:r>
          </a:p>
          <a:p>
            <a:pPr>
              <a:spcAft>
                <a:spcPts val="800"/>
              </a:spcAft>
              <a:defRPr sz="1250">
                <a:solidFill>
                  <a:srgbClr val="1F2937"/>
                </a:solidFill>
              </a:defRPr>
            </a:pPr>
            <a:r>
              <a:t>• 皆重視省電減碳與高自動化連續出料</a:t>
            </a:r>
          </a:p>
        </p:txBody>
      </p:sp>
      <p:sp>
        <p:nvSpPr>
          <p:cNvPr id="12" name="TextBox 11"/>
          <p:cNvSpPr txBox="1"/>
          <p:nvPr/>
        </p:nvSpPr>
        <p:spPr>
          <a:xfrm>
            <a:off x="8138159" y="2148840"/>
            <a:ext cx="3108960" cy="3749039"/>
          </a:xfrm>
          <a:prstGeom prst="rect">
            <a:avLst/>
          </a:prstGeom>
          <a:noFill/>
        </p:spPr>
        <p:txBody>
          <a:bodyPr wrap="square">
            <a:spAutoFit/>
          </a:bodyPr>
          <a:lstStyle/>
          <a:p>
            <a:pPr>
              <a:spcAft>
                <a:spcPts val="1200"/>
              </a:spcAft>
              <a:defRPr sz="1450" b="1">
                <a:solidFill>
                  <a:srgbClr val="177B57"/>
                </a:solidFill>
              </a:defRPr>
            </a:pPr>
            <a:r>
              <a:t>第二梯隊：三星螺絲成型機（朝璟精機）</a:t>
            </a:r>
          </a:p>
          <a:p>
            <a:pPr>
              <a:spcAft>
                <a:spcPts val="800"/>
              </a:spcAft>
              <a:defRPr sz="1250">
                <a:solidFill>
                  <a:srgbClr val="1F2937"/>
                </a:solidFill>
              </a:defRPr>
            </a:pPr>
            <a:r>
              <a:t>• 單台價格：350 萬～550 萬元（僅歐日機 1/3）</a:t>
            </a:r>
          </a:p>
          <a:p>
            <a:pPr>
              <a:spcAft>
                <a:spcPts val="800"/>
              </a:spcAft>
              <a:defRPr sz="1250">
                <a:solidFill>
                  <a:srgbClr val="1F2937"/>
                </a:solidFill>
              </a:defRPr>
            </a:pPr>
            <a:r>
              <a:t>• 交期：2～4 個月快速交機</a:t>
            </a:r>
          </a:p>
          <a:p>
            <a:pPr>
              <a:spcAft>
                <a:spcPts val="800"/>
              </a:spcAft>
              <a:defRPr sz="1250">
                <a:solidFill>
                  <a:srgbClr val="1F2937"/>
                </a:solidFill>
              </a:defRPr>
            </a:pPr>
            <a:r>
              <a:t>• 日本進口關鍵件＋台灣機體，妥善率達歐日機 85%</a:t>
            </a:r>
          </a:p>
          <a:p>
            <a:pPr>
              <a:spcAft>
                <a:spcPts val="800"/>
              </a:spcAft>
              <a:defRPr sz="1250">
                <a:solidFill>
                  <a:srgbClr val="1F2937"/>
                </a:solidFill>
              </a:defRPr>
            </a:pPr>
            <a:r>
              <a:t>• 高度適合中小型螺絲代工廠彈性擴產</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29BA74"/>
                </a:solidFill>
              </a:defRPr>
            </a:pPr>
            <a:r>
              <a:t>市場與產品組合  ｜  版型 8：BCG 矩陣  ｜  BCG (Boston Consulting Group)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B7280"/>
                </a:solidFill>
              </a:defRPr>
            </a:pPr>
            <a:r>
              <a:t>9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04F32"/>
                </a:solidFill>
              </a:defRPr>
            </a:pPr>
            <a:r>
              <a:t>市場客戶組合分析：新興國外銷特殊機為核心動能，國內標準機趨於成熟</a:t>
            </a:r>
          </a:p>
          <a:p>
            <a:pPr>
              <a:defRPr sz="1250">
                <a:solidFill>
                  <a:srgbClr val="6B7280"/>
                </a:solidFill>
              </a:defRPr>
            </a:pPr>
            <a:r>
              <a:t>評估四大象限業務在營業額貢獻、毛利率表現與競爭烈度之策略意涵</a:t>
            </a:r>
          </a:p>
        </p:txBody>
      </p:sp>
      <p:sp>
        <p:nvSpPr>
          <p:cNvPr id="5" name="Rectangle 4"/>
          <p:cNvSpPr/>
          <p:nvPr/>
        </p:nvSpPr>
        <p:spPr>
          <a:xfrm>
            <a:off x="731520" y="1627632"/>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B7280"/>
                </a:solidFill>
              </a:defRPr>
            </a:pPr>
            <a:r>
              <a:t>資料來源：BCG 策略矩陣分析模型、三星螺絲成型機外銷布局實態</a:t>
            </a:r>
          </a:p>
        </p:txBody>
      </p:sp>
      <p:sp>
        <p:nvSpPr>
          <p:cNvPr id="7" name="Rectangle 6"/>
          <p:cNvSpPr/>
          <p:nvPr/>
        </p:nvSpPr>
        <p:spPr>
          <a:xfrm>
            <a:off x="731520" y="1874519"/>
            <a:ext cx="1371600" cy="3749039"/>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② 縱軸 Y</a:t>
            </a:r>
            <a:br/>
            <a:r>
              <a:t>設備複雜度</a:t>
            </a:r>
            <a:br/>
            <a:r>
              <a:t>（特殊長衝程成型機 ▲ / 標準通用型成型機 ▼）</a:t>
            </a:r>
          </a:p>
        </p:txBody>
      </p:sp>
      <p:sp>
        <p:nvSpPr>
          <p:cNvPr id="8" name="Rectangle 7"/>
          <p:cNvSpPr/>
          <p:nvPr/>
        </p:nvSpPr>
        <p:spPr>
          <a:xfrm>
            <a:off x="2286000" y="5760720"/>
            <a:ext cx="9052560" cy="438912"/>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海外新興市場（印度/土耳其/巴西）        ② 橫軸 X（目標客群市場）        國內中小型扣件代工廠 ►</a:t>
            </a:r>
          </a:p>
        </p:txBody>
      </p:sp>
      <p:sp>
        <p:nvSpPr>
          <p:cNvPr id="9" name="Rounded Rectangle 8"/>
          <p:cNvSpPr/>
          <p:nvPr/>
        </p:nvSpPr>
        <p:spPr>
          <a:xfrm>
            <a:off x="2286000" y="1874519"/>
            <a:ext cx="4434840" cy="1810512"/>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011679"/>
            <a:ext cx="4069079" cy="1536192"/>
          </a:xfrm>
          <a:prstGeom prst="rect">
            <a:avLst/>
          </a:prstGeom>
          <a:noFill/>
        </p:spPr>
        <p:txBody>
          <a:bodyPr wrap="square">
            <a:spAutoFit/>
          </a:bodyPr>
          <a:lstStyle/>
          <a:p>
            <a:pPr>
              <a:spcAft>
                <a:spcPts val="600"/>
              </a:spcAft>
              <a:defRPr sz="1400" b="1">
                <a:solidFill>
                  <a:srgbClr val="004F32"/>
                </a:solidFill>
              </a:defRPr>
            </a:pPr>
            <a:r>
              <a:t>★ 策略明星（增長引擎）</a:t>
            </a:r>
          </a:p>
          <a:p>
            <a:pPr>
              <a:defRPr sz="1200">
                <a:solidFill>
                  <a:srgbClr val="1F2937"/>
                </a:solidFill>
              </a:defRPr>
            </a:pPr>
            <a:r>
              <a:t>【外銷 × 特殊長衝程機】印度、土耳其汽車零件本土化擴產急需高性價比設備，客單價高且毛利率最佳。</a:t>
            </a:r>
          </a:p>
        </p:txBody>
      </p:sp>
      <p:sp>
        <p:nvSpPr>
          <p:cNvPr id="11" name="Rounded Rectangle 10"/>
          <p:cNvSpPr/>
          <p:nvPr/>
        </p:nvSpPr>
        <p:spPr>
          <a:xfrm>
            <a:off x="6903720" y="1874519"/>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2011679"/>
            <a:ext cx="4069079" cy="1536192"/>
          </a:xfrm>
          <a:prstGeom prst="rect">
            <a:avLst/>
          </a:prstGeom>
          <a:noFill/>
        </p:spPr>
        <p:txBody>
          <a:bodyPr wrap="square">
            <a:spAutoFit/>
          </a:bodyPr>
          <a:lstStyle/>
          <a:p>
            <a:pPr>
              <a:spcAft>
                <a:spcPts val="600"/>
              </a:spcAft>
              <a:defRPr sz="1400" b="1">
                <a:solidFill>
                  <a:srgbClr val="177B57"/>
                </a:solidFill>
              </a:defRPr>
            </a:pPr>
            <a:r>
              <a:t>◆ 現金母牛（穩固基石）</a:t>
            </a:r>
          </a:p>
          <a:p>
            <a:pPr>
              <a:defRPr sz="1200">
                <a:solidFill>
                  <a:srgbClr val="1F2937"/>
                </a:solidFill>
              </a:defRPr>
            </a:pPr>
            <a:r>
              <a:t>【內銷 × 特殊長衝程機】台灣中南部扣件代工廠升級轉型汽機車件，單台合約 415 萬提供穩定現金流。</a:t>
            </a:r>
          </a:p>
        </p:txBody>
      </p:sp>
      <p:sp>
        <p:nvSpPr>
          <p:cNvPr id="13" name="Rounded Rectangle 12"/>
          <p:cNvSpPr/>
          <p:nvPr/>
        </p:nvSpPr>
        <p:spPr>
          <a:xfrm>
            <a:off x="2286000" y="3822191"/>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3959352"/>
            <a:ext cx="4069079" cy="1536192"/>
          </a:xfrm>
          <a:prstGeom prst="rect">
            <a:avLst/>
          </a:prstGeom>
          <a:noFill/>
        </p:spPr>
        <p:txBody>
          <a:bodyPr wrap="square">
            <a:spAutoFit/>
          </a:bodyPr>
          <a:lstStyle/>
          <a:p>
            <a:pPr>
              <a:spcAft>
                <a:spcPts val="600"/>
              </a:spcAft>
              <a:defRPr sz="1400" b="1">
                <a:solidFill>
                  <a:srgbClr val="177B57"/>
                </a:solidFill>
              </a:defRPr>
            </a:pPr>
            <a:r>
              <a:t>▲ 銷量基石（能見度）</a:t>
            </a:r>
          </a:p>
          <a:p>
            <a:pPr>
              <a:defRPr sz="1200">
                <a:solidFill>
                  <a:srgbClr val="1F2937"/>
                </a:solidFill>
              </a:defRPr>
            </a:pPr>
            <a:r>
              <a:t>【外銷 × 標準通用成型機】標準機型出口搶佔新興工業國市佔率，累積海外裝機量與耗材備品需求。</a:t>
            </a:r>
          </a:p>
        </p:txBody>
      </p:sp>
      <p:sp>
        <p:nvSpPr>
          <p:cNvPr id="15" name="Rounded Rectangle 14"/>
          <p:cNvSpPr/>
          <p:nvPr/>
        </p:nvSpPr>
        <p:spPr>
          <a:xfrm>
            <a:off x="6903720" y="3822191"/>
            <a:ext cx="4434840" cy="1810512"/>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3959352"/>
            <a:ext cx="4069079" cy="1536192"/>
          </a:xfrm>
          <a:prstGeom prst="rect">
            <a:avLst/>
          </a:prstGeom>
          <a:noFill/>
        </p:spPr>
        <p:txBody>
          <a:bodyPr wrap="square">
            <a:spAutoFit/>
          </a:bodyPr>
          <a:lstStyle/>
          <a:p>
            <a:pPr>
              <a:spcAft>
                <a:spcPts val="600"/>
              </a:spcAft>
              <a:defRPr sz="1400" b="1">
                <a:solidFill>
                  <a:srgbClr val="177B57"/>
                </a:solidFill>
              </a:defRPr>
            </a:pPr>
            <a:r>
              <a:t>■ 成熟維保（長尾耗材）</a:t>
            </a:r>
          </a:p>
          <a:p>
            <a:pPr>
              <a:defRPr sz="1200">
                <a:solidFill>
                  <a:srgbClr val="1F2937"/>
                </a:solidFill>
              </a:defRPr>
            </a:pPr>
            <a:r>
              <a:t>【內銷 × 標準通用成型機】國內標準機市場飽和且競爭激烈，轉為提供舊機大修翻新與沖模牙板耗材收入。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ESG 與綠電轉型評估  ｜  版型 6：對立論法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10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ESG 轉型評估：產品端主打節電 60% 因應 CBAM，惟廠區綠電溯源佈局仍滯後</a:t>
            </a:r>
          </a:p>
          <a:p>
            <a:pPr>
              <a:defRPr sz="1250">
                <a:solidFill>
                  <a:srgbClr val="64748B"/>
                </a:solidFill>
              </a:defRPr>
            </a:pPr>
            <a:r>
              <a:t>針對歐盟 CBAM 碳關稅壓力與綠電 ESG 規範，對比其產品優勢與製造端缺口</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資料來源：歐盟 CBAM 扣件申報規範、Fastener World 專訪、經濟部能源署再生能源登記平台</a:t>
            </a:r>
          </a:p>
        </p:txBody>
      </p:sp>
      <p:sp>
        <p:nvSpPr>
          <p:cNvPr id="7" name="Rectangle 6"/>
          <p:cNvSpPr/>
          <p:nvPr/>
        </p:nvSpPr>
        <p:spPr>
          <a:xfrm>
            <a:off x="2651760" y="1828800"/>
            <a:ext cx="4297680" cy="50292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② 見解 A</a:t>
            </a:r>
          </a:p>
        </p:txBody>
      </p:sp>
      <p:sp>
        <p:nvSpPr>
          <p:cNvPr id="8" name="Rectangle 7"/>
          <p:cNvSpPr/>
          <p:nvPr/>
        </p:nvSpPr>
        <p:spPr>
          <a:xfrm>
            <a:off x="7132320" y="1828800"/>
            <a:ext cx="42976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② 見解 B</a:t>
            </a:r>
          </a:p>
        </p:txBody>
      </p:sp>
      <p:sp>
        <p:nvSpPr>
          <p:cNvPr id="9" name="Oval 8"/>
          <p:cNvSpPr/>
          <p:nvPr/>
        </p:nvSpPr>
        <p:spPr>
          <a:xfrm>
            <a:off x="731520" y="2468880"/>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10" name="Rounded Rectangle 9"/>
          <p:cNvSpPr/>
          <p:nvPr/>
        </p:nvSpPr>
        <p:spPr>
          <a:xfrm>
            <a:off x="265176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2542032"/>
            <a:ext cx="4023360" cy="722375"/>
          </a:xfrm>
          <a:prstGeom prst="rect">
            <a:avLst/>
          </a:prstGeom>
          <a:noFill/>
        </p:spPr>
        <p:txBody>
          <a:bodyPr wrap="square">
            <a:spAutoFit/>
          </a:bodyPr>
          <a:lstStyle/>
          <a:p>
            <a:pPr>
              <a:defRPr sz="1200">
                <a:solidFill>
                  <a:srgbClr val="1F2937"/>
                </a:solidFill>
              </a:defRPr>
            </a:pPr>
          </a:p>
        </p:txBody>
      </p:sp>
      <p:sp>
        <p:nvSpPr>
          <p:cNvPr id="12" name="Rounded Rectangle 11"/>
          <p:cNvSpPr/>
          <p:nvPr/>
        </p:nvSpPr>
        <p:spPr>
          <a:xfrm>
            <a:off x="7132320" y="2468880"/>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542032"/>
            <a:ext cx="4023360" cy="722375"/>
          </a:xfrm>
          <a:prstGeom prst="rect">
            <a:avLst/>
          </a:prstGeom>
          <a:noFill/>
        </p:spPr>
        <p:txBody>
          <a:bodyPr wrap="square">
            <a:spAutoFit/>
          </a:bodyPr>
          <a:lstStyle/>
          <a:p>
            <a:pPr>
              <a:defRPr sz="1200">
                <a:solidFill>
                  <a:srgbClr val="1F2937"/>
                </a:solidFill>
              </a:defRPr>
            </a:pPr>
          </a:p>
        </p:txBody>
      </p:sp>
      <p:sp>
        <p:nvSpPr>
          <p:cNvPr id="14" name="Oval 13"/>
          <p:cNvSpPr/>
          <p:nvPr/>
        </p:nvSpPr>
        <p:spPr>
          <a:xfrm>
            <a:off x="731520" y="3447288"/>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15" name="Rounded Rectangle 14"/>
          <p:cNvSpPr/>
          <p:nvPr/>
        </p:nvSpPr>
        <p:spPr>
          <a:xfrm>
            <a:off x="265176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20440"/>
            <a:ext cx="4023360" cy="722375"/>
          </a:xfrm>
          <a:prstGeom prst="rect">
            <a:avLst/>
          </a:prstGeom>
          <a:noFill/>
        </p:spPr>
        <p:txBody>
          <a:bodyPr wrap="square">
            <a:spAutoFit/>
          </a:bodyPr>
          <a:lstStyle/>
          <a:p>
            <a:pPr>
              <a:defRPr sz="1200">
                <a:solidFill>
                  <a:srgbClr val="1F2937"/>
                </a:solidFill>
              </a:defRPr>
            </a:pPr>
          </a:p>
        </p:txBody>
      </p:sp>
      <p:sp>
        <p:nvSpPr>
          <p:cNvPr id="17" name="Rounded Rectangle 16"/>
          <p:cNvSpPr/>
          <p:nvPr/>
        </p:nvSpPr>
        <p:spPr>
          <a:xfrm>
            <a:off x="7132320" y="3447288"/>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3520440"/>
            <a:ext cx="4023360" cy="722375"/>
          </a:xfrm>
          <a:prstGeom prst="rect">
            <a:avLst/>
          </a:prstGeom>
          <a:noFill/>
        </p:spPr>
        <p:txBody>
          <a:bodyPr wrap="square">
            <a:spAutoFit/>
          </a:bodyPr>
          <a:lstStyle/>
          <a:p>
            <a:pPr>
              <a:defRPr sz="1200">
                <a:solidFill>
                  <a:srgbClr val="1F2937"/>
                </a:solidFill>
              </a:defRPr>
            </a:pPr>
          </a:p>
        </p:txBody>
      </p:sp>
      <p:sp>
        <p:nvSpPr>
          <p:cNvPr id="19" name="Oval 18"/>
          <p:cNvSpPr/>
          <p:nvPr/>
        </p:nvSpPr>
        <p:spPr>
          <a:xfrm>
            <a:off x="731520" y="4425696"/>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20" name="Rounded Rectangle 19"/>
          <p:cNvSpPr/>
          <p:nvPr/>
        </p:nvSpPr>
        <p:spPr>
          <a:xfrm>
            <a:off x="265176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498848"/>
            <a:ext cx="4023360" cy="722375"/>
          </a:xfrm>
          <a:prstGeom prst="rect">
            <a:avLst/>
          </a:prstGeom>
          <a:noFill/>
        </p:spPr>
        <p:txBody>
          <a:bodyPr wrap="square">
            <a:spAutoFit/>
          </a:bodyPr>
          <a:lstStyle/>
          <a:p>
            <a:pPr>
              <a:defRPr sz="1200">
                <a:solidFill>
                  <a:srgbClr val="1F2937"/>
                </a:solidFill>
              </a:defRPr>
            </a:pPr>
          </a:p>
        </p:txBody>
      </p:sp>
      <p:sp>
        <p:nvSpPr>
          <p:cNvPr id="22" name="Rounded Rectangle 21"/>
          <p:cNvSpPr/>
          <p:nvPr/>
        </p:nvSpPr>
        <p:spPr>
          <a:xfrm>
            <a:off x="7132320" y="4425696"/>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4498848"/>
            <a:ext cx="4023360" cy="722375"/>
          </a:xfrm>
          <a:prstGeom prst="rect">
            <a:avLst/>
          </a:prstGeom>
          <a:noFill/>
        </p:spPr>
        <p:txBody>
          <a:bodyPr wrap="square">
            <a:spAutoFit/>
          </a:bodyPr>
          <a:lstStyle/>
          <a:p>
            <a:pPr>
              <a:defRPr sz="1200">
                <a:solidFill>
                  <a:srgbClr val="1F2937"/>
                </a:solidFill>
              </a:defRPr>
            </a:pPr>
          </a:p>
        </p:txBody>
      </p:sp>
      <p:sp>
        <p:nvSpPr>
          <p:cNvPr id="24" name="Oval 23"/>
          <p:cNvSpPr/>
          <p:nvPr/>
        </p:nvSpPr>
        <p:spPr>
          <a:xfrm>
            <a:off x="731520" y="5404104"/>
            <a:ext cx="1737360" cy="868680"/>
          </a:xfrm>
          <a:prstGeom prst="ellipse">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51C2C"/>
                </a:solidFill>
              </a:defRPr>
            </a:pPr>
          </a:p>
        </p:txBody>
      </p:sp>
      <p:sp>
        <p:nvSpPr>
          <p:cNvPr id="25" name="Rounded Rectangle 24"/>
          <p:cNvSpPr/>
          <p:nvPr/>
        </p:nvSpPr>
        <p:spPr>
          <a:xfrm>
            <a:off x="2651760" y="5404104"/>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88920" y="5477256"/>
            <a:ext cx="4023360" cy="722375"/>
          </a:xfrm>
          <a:prstGeom prst="rect">
            <a:avLst/>
          </a:prstGeom>
          <a:noFill/>
        </p:spPr>
        <p:txBody>
          <a:bodyPr wrap="square">
            <a:spAutoFit/>
          </a:bodyPr>
          <a:lstStyle/>
          <a:p>
            <a:pPr>
              <a:defRPr sz="1200">
                <a:solidFill>
                  <a:srgbClr val="1F2937"/>
                </a:solidFill>
              </a:defRPr>
            </a:pPr>
          </a:p>
        </p:txBody>
      </p:sp>
      <p:sp>
        <p:nvSpPr>
          <p:cNvPr id="27" name="Rounded Rectangle 26"/>
          <p:cNvSpPr/>
          <p:nvPr/>
        </p:nvSpPr>
        <p:spPr>
          <a:xfrm>
            <a:off x="7132320" y="5404104"/>
            <a:ext cx="429768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5477256"/>
            <a:ext cx="4023360" cy="722375"/>
          </a:xfrm>
          <a:prstGeom prst="rect">
            <a:avLst/>
          </a:prstGeom>
          <a:noFill/>
        </p:spPr>
        <p:txBody>
          <a:bodyPr wrap="square">
            <a:spAutoFit/>
          </a:bodyPr>
          <a:lstStyle/>
          <a:p>
            <a:pPr>
              <a:defRPr sz="1200">
                <a:solidFill>
                  <a:srgbClr val="1F2937"/>
                </a:solidFill>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A100FF"/>
                </a:solidFill>
              </a:defRPr>
            </a:pPr>
            <a:r>
              <a:t>司法履約風險查核  ｜  版型 2：並列論法  ｜  Accenture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11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111827"/>
                </a:solidFill>
              </a:defRPr>
            </a:pPr>
            <a:r>
              <a:t>司法裁判風險覆核：履約合約爭議集中於「配件隨機交付」與「驗收標準」</a:t>
            </a:r>
          </a:p>
          <a:p>
            <a:pPr>
              <a:defRPr sz="1250">
                <a:solidFill>
                  <a:srgbClr val="64748B"/>
                </a:solidFill>
              </a:defRPr>
            </a:pPr>
            <a:r>
              <a:t>以高院 114上149 實案剖析商務履約盲點與合作合約防範要項</a:t>
            </a:r>
          </a:p>
        </p:txBody>
      </p:sp>
      <p:sp>
        <p:nvSpPr>
          <p:cNvPr id="5" name="Rectangle 4"/>
          <p:cNvSpPr/>
          <p:nvPr/>
        </p:nvSpPr>
        <p:spPr>
          <a:xfrm>
            <a:off x="731520" y="1627632"/>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資料來源：臺灣高等法院臺南分院 114年度上字第149號民事判決書全文</a:t>
            </a:r>
          </a:p>
        </p:txBody>
      </p:sp>
      <p:sp>
        <p:nvSpPr>
          <p:cNvPr id="7" name="Rounded Rectangle 6"/>
          <p:cNvSpPr/>
          <p:nvPr/>
        </p:nvSpPr>
        <p:spPr>
          <a:xfrm>
            <a:off x="731520"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判決爭議焦點（實案）</a:t>
            </a:r>
          </a:p>
        </p:txBody>
      </p:sp>
      <p:sp>
        <p:nvSpPr>
          <p:cNvPr id="9" name="TextBox 8"/>
          <p:cNvSpPr txBox="1"/>
          <p:nvPr/>
        </p:nvSpPr>
        <p:spPr>
          <a:xfrm>
            <a:off x="914400" y="2514600"/>
            <a:ext cx="3027578" cy="3520440"/>
          </a:xfrm>
          <a:prstGeom prst="rect">
            <a:avLst/>
          </a:prstGeom>
          <a:noFill/>
        </p:spPr>
        <p:txBody>
          <a:bodyPr wrap="square">
            <a:spAutoFit/>
          </a:bodyPr>
          <a:lstStyle/>
          <a:p>
            <a:pPr>
              <a:spcAft>
                <a:spcPts val="600"/>
              </a:spcAft>
              <a:defRPr sz="1250">
                <a:solidFill>
                  <a:srgbClr val="0F172A"/>
                </a:solidFill>
              </a:defRPr>
            </a:pPr>
            <a:r>
              <a:t>1. 買方（鉅準有限公司）主張購買 PF86L 機台包含「會翻會夾組」等三零件</a:t>
            </a:r>
          </a:p>
          <a:p>
            <a:pPr>
              <a:spcAft>
                <a:spcPts val="600"/>
              </a:spcAft>
              <a:defRPr sz="1250">
                <a:solidFill>
                  <a:srgbClr val="0F172A"/>
                </a:solidFill>
              </a:defRPr>
            </a:pPr>
            <a:r>
              <a:t>2. 主機雖送達買方處所，但特定夾具配件延誤交付引發買賣信任破裂</a:t>
            </a:r>
          </a:p>
          <a:p>
            <a:pPr>
              <a:spcAft>
                <a:spcPts val="600"/>
              </a:spcAft>
              <a:defRPr sz="1250">
                <a:solidFill>
                  <a:srgbClr val="0F172A"/>
                </a:solidFill>
              </a:defRPr>
            </a:pPr>
            <a:r>
              <a:t>3. 買方訴請解除契約並請求返還 415 萬價金，法院最終駁回買方請求</a:t>
            </a:r>
          </a:p>
        </p:txBody>
      </p:sp>
      <p:sp>
        <p:nvSpPr>
          <p:cNvPr id="10" name="Rounded Rectangle 9"/>
          <p:cNvSpPr/>
          <p:nvPr/>
        </p:nvSpPr>
        <p:spPr>
          <a:xfrm>
            <a:off x="4399178"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874519"/>
            <a:ext cx="3393338" cy="5029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法院判決法律理由</a:t>
            </a:r>
          </a:p>
        </p:txBody>
      </p:sp>
      <p:sp>
        <p:nvSpPr>
          <p:cNvPr id="12" name="TextBox 11"/>
          <p:cNvSpPr txBox="1"/>
          <p:nvPr/>
        </p:nvSpPr>
        <p:spPr>
          <a:xfrm>
            <a:off x="4582058" y="2514600"/>
            <a:ext cx="3027578" cy="3520440"/>
          </a:xfrm>
          <a:prstGeom prst="rect">
            <a:avLst/>
          </a:prstGeom>
          <a:noFill/>
        </p:spPr>
        <p:txBody>
          <a:bodyPr wrap="square">
            <a:spAutoFit/>
          </a:bodyPr>
          <a:lstStyle/>
          <a:p>
            <a:pPr>
              <a:spcAft>
                <a:spcPts val="600"/>
              </a:spcAft>
              <a:defRPr sz="1250">
                <a:solidFill>
                  <a:srgbClr val="0F172A"/>
                </a:solidFill>
              </a:defRPr>
            </a:pPr>
            <a:r>
              <a:t>1. 法院認定主機已交付且可運作，未交付配件屬附隨義務或可分之零件</a:t>
            </a:r>
          </a:p>
          <a:p>
            <a:pPr>
              <a:spcAft>
                <a:spcPts val="600"/>
              </a:spcAft>
              <a:defRPr sz="1250">
                <a:solidFill>
                  <a:srgbClr val="0F172A"/>
                </a:solidFill>
              </a:defRPr>
            </a:pPr>
            <a:r>
              <a:t>2. 買方不得因少數配件缺漏而全面主張解除全機契約並要求退還全部價金</a:t>
            </a:r>
          </a:p>
          <a:p>
            <a:pPr>
              <a:spcAft>
                <a:spcPts val="600"/>
              </a:spcAft>
              <a:defRPr sz="1250">
                <a:solidFill>
                  <a:srgbClr val="0F172A"/>
                </a:solidFill>
              </a:defRPr>
            </a:pPr>
            <a:r>
              <a:t>3. 三星/朝璟在主機本體質量上獲得司法認定，但凸顯出配件交付管理疏失</a:t>
            </a:r>
          </a:p>
        </p:txBody>
      </p:sp>
      <p:sp>
        <p:nvSpPr>
          <p:cNvPr id="13" name="Rounded Rectangle 12"/>
          <p:cNvSpPr/>
          <p:nvPr/>
        </p:nvSpPr>
        <p:spPr>
          <a:xfrm>
            <a:off x="8066836" y="1874519"/>
            <a:ext cx="3393338" cy="429768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6836" y="1874519"/>
            <a:ext cx="3393338" cy="5029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盡職調查風控建議</a:t>
            </a:r>
          </a:p>
        </p:txBody>
      </p:sp>
      <p:sp>
        <p:nvSpPr>
          <p:cNvPr id="15" name="TextBox 14"/>
          <p:cNvSpPr txBox="1"/>
          <p:nvPr/>
        </p:nvSpPr>
        <p:spPr>
          <a:xfrm>
            <a:off x="8249716" y="2514600"/>
            <a:ext cx="3027578" cy="3520440"/>
          </a:xfrm>
          <a:prstGeom prst="rect">
            <a:avLst/>
          </a:prstGeom>
          <a:noFill/>
        </p:spPr>
        <p:txBody>
          <a:bodyPr wrap="square">
            <a:spAutoFit/>
          </a:bodyPr>
          <a:lstStyle/>
          <a:p>
            <a:pPr>
              <a:spcAft>
                <a:spcPts val="600"/>
              </a:spcAft>
              <a:defRPr sz="1250">
                <a:solidFill>
                  <a:srgbClr val="0F172A"/>
                </a:solidFill>
              </a:defRPr>
            </a:pPr>
            <a:r>
              <a:t>1. 合作合約必須明確訂立「主機與客製專用配件之雙軌獨立驗收清單」</a:t>
            </a:r>
          </a:p>
          <a:p>
            <a:pPr>
              <a:spcAft>
                <a:spcPts val="600"/>
              </a:spcAft>
              <a:defRPr sz="1250">
                <a:solidFill>
                  <a:srgbClr val="0F172A"/>
                </a:solidFill>
              </a:defRPr>
            </a:pPr>
            <a:r>
              <a:t>2. 約定以客觀樣品衝壓良率（如連續衝壓 1,000 顆無公差超標）為尾款前提</a:t>
            </a:r>
          </a:p>
          <a:p>
            <a:pPr>
              <a:spcAft>
                <a:spcPts val="600"/>
              </a:spcAft>
              <a:defRPr sz="1250">
                <a:solidFill>
                  <a:srgbClr val="0F172A"/>
                </a:solidFill>
              </a:defRPr>
            </a:pPr>
            <a:r>
              <a:t>3. 要求提供完整的備品清單與 48 小時內到廠叫修服務水平承諾（SLA）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601200" cy="320040"/>
          </a:xfrm>
          <a:prstGeom prst="rect">
            <a:avLst/>
          </a:prstGeom>
          <a:noFill/>
        </p:spPr>
        <p:txBody>
          <a:bodyPr wrap="none">
            <a:spAutoFit/>
          </a:bodyPr>
          <a:lstStyle/>
          <a:p>
            <a:pPr>
              <a:defRPr sz="1050" b="1">
                <a:solidFill>
                  <a:srgbClr val="D97706"/>
                </a:solidFill>
              </a:defRPr>
            </a:pPr>
            <a:r>
              <a:t>盡職調查綜合結論  ｜  版型 3：結合論法  ｜  McKinsey &amp; Company Style</a:t>
            </a:r>
          </a:p>
        </p:txBody>
      </p:sp>
      <p:sp>
        <p:nvSpPr>
          <p:cNvPr id="3" name="TextBox 2"/>
          <p:cNvSpPr txBox="1"/>
          <p:nvPr/>
        </p:nvSpPr>
        <p:spPr>
          <a:xfrm>
            <a:off x="10332720" y="365760"/>
            <a:ext cx="1097280" cy="320040"/>
          </a:xfrm>
          <a:prstGeom prst="rect">
            <a:avLst/>
          </a:prstGeom>
          <a:noFill/>
        </p:spPr>
        <p:txBody>
          <a:bodyPr wrap="none">
            <a:spAutoFit/>
          </a:bodyPr>
          <a:lstStyle/>
          <a:p>
            <a:pPr algn="r">
              <a:defRPr sz="1050">
                <a:solidFill>
                  <a:srgbClr val="64748B"/>
                </a:solidFill>
              </a:defRPr>
            </a:pPr>
            <a:r>
              <a:t>12 / 12</a:t>
            </a:r>
          </a:p>
        </p:txBody>
      </p:sp>
      <p:sp>
        <p:nvSpPr>
          <p:cNvPr id="4" name="TextBox 3"/>
          <p:cNvSpPr txBox="1"/>
          <p:nvPr/>
        </p:nvSpPr>
        <p:spPr>
          <a:xfrm>
            <a:off x="731520" y="685800"/>
            <a:ext cx="10698480" cy="868680"/>
          </a:xfrm>
          <a:prstGeom prst="rect">
            <a:avLst/>
          </a:prstGeom>
          <a:noFill/>
        </p:spPr>
        <p:txBody>
          <a:bodyPr wrap="square">
            <a:spAutoFit/>
          </a:bodyPr>
          <a:lstStyle/>
          <a:p>
            <a:pPr>
              <a:defRPr sz="2100" b="1">
                <a:solidFill>
                  <a:srgbClr val="051C2C"/>
                </a:solidFill>
              </a:defRPr>
            </a:pPr>
            <a:r>
              <a:t>盡職調查綜合結論：商業營運信用評為「中上（B+）」，合作須落實雙向避險</a:t>
            </a:r>
          </a:p>
          <a:p>
            <a:pPr>
              <a:defRPr sz="1250">
                <a:solidFill>
                  <a:srgbClr val="64748B"/>
                </a:solidFill>
              </a:defRPr>
            </a:pPr>
            <a:r>
              <a:t>整合法人主體、財務體質、專利壁壘、ESG 綠電合規與合約風控之總結建言</a:t>
            </a:r>
          </a:p>
        </p:txBody>
      </p:sp>
      <p:sp>
        <p:nvSpPr>
          <p:cNvPr id="5" name="Rectangle 4"/>
          <p:cNvSpPr/>
          <p:nvPr/>
        </p:nvSpPr>
        <p:spPr>
          <a:xfrm>
            <a:off x="731520" y="1627632"/>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10698480" cy="320040"/>
          </a:xfrm>
          <a:prstGeom prst="rect">
            <a:avLst/>
          </a:prstGeom>
          <a:noFill/>
        </p:spPr>
        <p:txBody>
          <a:bodyPr wrap="none">
            <a:spAutoFit/>
          </a:bodyPr>
          <a:lstStyle/>
          <a:p>
            <a:pPr>
              <a:defRPr sz="950">
                <a:solidFill>
                  <a:srgbClr val="64748B"/>
                </a:solidFill>
              </a:defRPr>
            </a:pPr>
            <a:r>
              <a:t>資料來源：4.1.3 業務開發盡職調查白皮書 ｜ 企業徵信與營運評估專報</a:t>
            </a:r>
          </a:p>
        </p:txBody>
      </p:sp>
      <p:sp>
        <p:nvSpPr>
          <p:cNvPr id="7" name="Rounded Rectangle 6"/>
          <p:cNvSpPr/>
          <p:nvPr/>
        </p:nvSpPr>
        <p:spPr>
          <a:xfrm>
            <a:off x="2011680" y="1783080"/>
            <a:ext cx="8138160" cy="731520"/>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商務可行性良好且技術具利基，惟須落實交機驗收標準化與能耗數據約定</a:t>
            </a:r>
          </a:p>
        </p:txBody>
      </p:sp>
      <p:sp>
        <p:nvSpPr>
          <p:cNvPr id="8" name="Rounded Rectangle 7"/>
          <p:cNvSpPr/>
          <p:nvPr/>
        </p:nvSpPr>
        <p:spPr>
          <a:xfrm>
            <a:off x="73152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正面支撐要素（合作可行性：良好）</a:t>
            </a:r>
          </a:p>
        </p:txBody>
      </p:sp>
      <p:sp>
        <p:nvSpPr>
          <p:cNvPr id="9" name="Rounded Rectangle 8"/>
          <p:cNvSpPr/>
          <p:nvPr/>
        </p:nvSpPr>
        <p:spPr>
          <a:xfrm>
            <a:off x="731520"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931920"/>
            <a:ext cx="1456944" cy="2103120"/>
          </a:xfrm>
          <a:prstGeom prst="rect">
            <a:avLst/>
          </a:prstGeom>
          <a:noFill/>
        </p:spPr>
        <p:txBody>
          <a:bodyPr wrap="square">
            <a:spAutoFit/>
          </a:bodyPr>
          <a:lstStyle/>
          <a:p>
            <a:pPr>
              <a:defRPr sz="1150">
                <a:solidFill>
                  <a:srgbClr val="1F2937"/>
                </a:solidFill>
              </a:defRPr>
            </a:pPr>
            <a:r>
              <a:t>財務體質精簡：全廠 &lt;20 人，固定負擔輕，無重資產負債暴雷風險</a:t>
            </a:r>
          </a:p>
        </p:txBody>
      </p:sp>
      <p:sp>
        <p:nvSpPr>
          <p:cNvPr id="11" name="Rounded Rectangle 10"/>
          <p:cNvSpPr/>
          <p:nvPr/>
        </p:nvSpPr>
        <p:spPr>
          <a:xfrm>
            <a:off x="2508504"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9944" y="3931920"/>
            <a:ext cx="1456944" cy="2103120"/>
          </a:xfrm>
          <a:prstGeom prst="rect">
            <a:avLst/>
          </a:prstGeom>
          <a:noFill/>
        </p:spPr>
        <p:txBody>
          <a:bodyPr wrap="square">
            <a:spAutoFit/>
          </a:bodyPr>
          <a:lstStyle/>
          <a:p>
            <a:pPr>
              <a:defRPr sz="1150">
                <a:solidFill>
                  <a:srgbClr val="1F2937"/>
                </a:solidFill>
              </a:defRPr>
            </a:pPr>
            <a:r>
              <a:t>利基市場定價權：單台 415 萬合約定價證明產品具備真實商業變現價值</a:t>
            </a:r>
          </a:p>
        </p:txBody>
      </p:sp>
      <p:sp>
        <p:nvSpPr>
          <p:cNvPr id="13" name="Rounded Rectangle 12"/>
          <p:cNvSpPr/>
          <p:nvPr/>
        </p:nvSpPr>
        <p:spPr>
          <a:xfrm>
            <a:off x="4285488" y="3840480"/>
            <a:ext cx="1639824" cy="2286000"/>
          </a:xfrm>
          <a:prstGeom prst="roundRect">
            <a:avLst/>
          </a:prstGeom>
          <a:solidFill>
            <a:srgbClr val="F8FAFC"/>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6928" y="3931920"/>
            <a:ext cx="1456944" cy="2103120"/>
          </a:xfrm>
          <a:prstGeom prst="rect">
            <a:avLst/>
          </a:prstGeom>
          <a:noFill/>
        </p:spPr>
        <p:txBody>
          <a:bodyPr wrap="square">
            <a:spAutoFit/>
          </a:bodyPr>
          <a:lstStyle/>
          <a:p>
            <a:pPr>
              <a:defRPr sz="1150">
                <a:solidFill>
                  <a:srgbClr val="1F2937"/>
                </a:solidFill>
              </a:defRPr>
            </a:pPr>
            <a:r>
              <a:t>核心技術護城河：發明與新型雙專利佈局，且具備產品端 60% 節能之 CBAM 紅利</a:t>
            </a:r>
          </a:p>
        </p:txBody>
      </p:sp>
      <p:sp>
        <p:nvSpPr>
          <p:cNvPr id="15" name="Rounded Rectangle 14"/>
          <p:cNvSpPr/>
          <p:nvPr/>
        </p:nvSpPr>
        <p:spPr>
          <a:xfrm>
            <a:off x="6263640" y="2788920"/>
            <a:ext cx="5193792" cy="7772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defRPr>
            </a:pPr>
            <a:r>
              <a:t>風控配套要素（避險要求：嚴格）</a:t>
            </a:r>
          </a:p>
        </p:txBody>
      </p:sp>
      <p:sp>
        <p:nvSpPr>
          <p:cNvPr id="16" name="Rounded Rectangle 15"/>
          <p:cNvSpPr/>
          <p:nvPr/>
        </p:nvSpPr>
        <p:spPr>
          <a:xfrm>
            <a:off x="6263640"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3931920"/>
            <a:ext cx="1456944" cy="2103120"/>
          </a:xfrm>
          <a:prstGeom prst="rect">
            <a:avLst/>
          </a:prstGeom>
          <a:noFill/>
        </p:spPr>
        <p:txBody>
          <a:bodyPr wrap="square">
            <a:spAutoFit/>
          </a:bodyPr>
          <a:lstStyle/>
          <a:p>
            <a:pPr>
              <a:defRPr sz="1150">
                <a:solidFill>
                  <a:srgbClr val="1F2937"/>
                </a:solidFill>
              </a:defRPr>
            </a:pPr>
            <a:r>
              <a:t>合約主機與配件分拆驗收：避免因客製模具延遲引發全案付款停滯糾紛</a:t>
            </a:r>
          </a:p>
        </p:txBody>
      </p:sp>
      <p:sp>
        <p:nvSpPr>
          <p:cNvPr id="18" name="Rounded Rectangle 17"/>
          <p:cNvSpPr/>
          <p:nvPr/>
        </p:nvSpPr>
        <p:spPr>
          <a:xfrm>
            <a:off x="8040624"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2063" y="3931920"/>
            <a:ext cx="1456944" cy="2103120"/>
          </a:xfrm>
          <a:prstGeom prst="rect">
            <a:avLst/>
          </a:prstGeom>
          <a:noFill/>
        </p:spPr>
        <p:txBody>
          <a:bodyPr wrap="square">
            <a:spAutoFit/>
          </a:bodyPr>
          <a:lstStyle/>
          <a:p>
            <a:pPr>
              <a:defRPr sz="1150">
                <a:solidFill>
                  <a:srgbClr val="1F2937"/>
                </a:solidFill>
              </a:defRPr>
            </a:pPr>
            <a:r>
              <a:t>ESG 能耗與綠電條款：約定機台交付時須附出廠能耗實測報告以符合客戶稽核</a:t>
            </a:r>
          </a:p>
        </p:txBody>
      </p:sp>
      <p:sp>
        <p:nvSpPr>
          <p:cNvPr id="20" name="Rounded Rectangle 19"/>
          <p:cNvSpPr/>
          <p:nvPr/>
        </p:nvSpPr>
        <p:spPr>
          <a:xfrm>
            <a:off x="9817608" y="3840480"/>
            <a:ext cx="1639824" cy="22860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9048" y="3931920"/>
            <a:ext cx="1456944" cy="2103120"/>
          </a:xfrm>
          <a:prstGeom prst="rect">
            <a:avLst/>
          </a:prstGeom>
          <a:noFill/>
        </p:spPr>
        <p:txBody>
          <a:bodyPr wrap="square">
            <a:spAutoFit/>
          </a:bodyPr>
          <a:lstStyle/>
          <a:p>
            <a:pPr>
              <a:defRPr sz="1150">
                <a:solidFill>
                  <a:srgbClr val="1F2937"/>
                </a:solidFill>
              </a:defRPr>
            </a:pPr>
            <a:r>
              <a:t>售後服務水平保障：針對小團隊售後瓶頸，簽約時須明確載明維修響應時限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